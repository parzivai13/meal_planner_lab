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147481777" r:id="rId2"/>
    <p:sldId id="2147481778" r:id="rId3"/>
    <p:sldId id="2147481779" r:id="rId4"/>
    <p:sldId id="2147481780" r:id="rId5"/>
    <p:sldId id="2147481781" r:id="rId6"/>
    <p:sldId id="2147481782" r:id="rId7"/>
    <p:sldId id="2147481783" r:id="rId8"/>
    <p:sldId id="2147481784" r:id="rId9"/>
    <p:sldId id="2147481786" r:id="rId10"/>
    <p:sldId id="2147481787" r:id="rId11"/>
    <p:sldId id="2147481785" r:id="rId12"/>
    <p:sldId id="2147481788" r:id="rId13"/>
    <p:sldId id="2147481789" r:id="rId14"/>
    <p:sldId id="2147481790" r:id="rId15"/>
    <p:sldId id="2147481791" r:id="rId16"/>
    <p:sldId id="2147481792" r:id="rId17"/>
    <p:sldId id="2147481793" r:id="rId18"/>
    <p:sldId id="2147481794" r:id="rId19"/>
    <p:sldId id="2147481795" r:id="rId20"/>
    <p:sldId id="2147481796" r:id="rId21"/>
    <p:sldId id="2147481797" r:id="rId22"/>
    <p:sldId id="2147481798" r:id="rId23"/>
    <p:sldId id="2147481799" r:id="rId24"/>
    <p:sldId id="2147481800" r:id="rId25"/>
    <p:sldId id="2147481801" r:id="rId26"/>
    <p:sldId id="2147481802" r:id="rId27"/>
    <p:sldId id="2147481803" r:id="rId28"/>
    <p:sldId id="2147481804" r:id="rId29"/>
    <p:sldId id="2147481805" r:id="rId30"/>
    <p:sldId id="2147481806" r:id="rId31"/>
    <p:sldId id="2147481807"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9" d="100"/>
          <a:sy n="119" d="100"/>
        </p:scale>
        <p:origin x="216" y="3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48618E9-EE2D-4864-9EEE-58939BD4FBBA}"/>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317D1EC0-23FF-4FC8-B22D-E34878EAA4C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AB929A7-258C-4469-AAB4-A67D713F7A80}"/>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A635CDB-2D00-49D5-B26E-0694A25000C7}"/>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4288D7A-F857-418D-92F2-368E841B9F27}"/>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1084F50-7F3C-4A4A-877E-FFD9EC7CD88B}"/>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31E64C1-F4C0-4A94-B319-BB1A0A2450B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3D8374-8052-417F-AB69-B97EAC43D51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C7750734-4D51-4019-A003-38A3DE49B434}"/>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71B693D1-DBA2-4D3B-9B37-D9EE8C4112F4}"/>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BCD3EA8-E4C0-4AF6-817F-F9F29157A499}"/>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170FB3-B397-4AC9-85FD-65388F26D90A}"/>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BE5EC0B9-49C7-4777-AEC5-B5EF8DE40498}"/>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902048B-30F7-4434-87A5-140F9BB4BEB1}"/>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500A6E2-A41C-4751-8A4E-9A0C5718D930}"/>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259517-7BE7-45F9-81C0-3A6362BF143C}"/>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0652F56-7B71-42B2-AB68-22204A6DF17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059830E-1C3D-4D42-8789-524971CB4657}"/>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53325A7-86D3-4B52-A7E3-ADDF408B4067}"/>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D53F46F-EC12-484C-A4E7-791E57687AC1}"/>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64ED9CA-8950-47B8-A9ED-22B45CE15FB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4429F7B-9FD7-438F-8ECA-3FCAD006180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C558100-D455-4B41-890C-BCC898B2D165}"/>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2886397-398A-4318-BE16-2CBAC1902F9E}"/>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D32A3A6-CE6E-4ABD-8522-2C8DC88C070E}"/>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F9014C09-5B84-4798-8BDE-C80D76E67B8E}"/>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A29EB9E-ED9D-4C69-8A26-9A7A0A83056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A2899F9-1795-416F-8F3D-26EEB684DB6A}"/>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3043474-8625-495C-BD06-3627FD286C55}"/>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432CE47-7631-408E-8DDC-79EE378B707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2C8832D-8B8D-4036-B913-2D363143274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CCEFEAF-E87B-4FF2-A947-94CABAA0610D}"/>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43A7CD3-94E1-42A9-BAB7-2AFCD9FCBD10}"/>
              </a:ext>
            </a:extLst>
          </p:cNvPr>
          <p:cNvSpPr>
            <a:spLocks noGrp="1"/>
          </p:cNvSpPr>
          <p:nvPr>
            <p:ph type="ctrTitle"/>
          </p:nvPr>
        </p:nvSpPr>
        <p:spPr>
          <a:xfrm>
            <a:off x="691078" y="722903"/>
            <a:ext cx="10495904" cy="2460770"/>
          </a:xfrm>
        </p:spPr>
        <p:txBody>
          <a:bodyPr anchor="b">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467609B-8FD3-4FF7-8EBC-6619CA868B33}"/>
              </a:ext>
            </a:extLst>
          </p:cNvPr>
          <p:cNvSpPr>
            <a:spLocks noGrp="1"/>
          </p:cNvSpPr>
          <p:nvPr>
            <p:ph type="subTitle" idx="1"/>
          </p:nvPr>
        </p:nvSpPr>
        <p:spPr>
          <a:xfrm>
            <a:off x="691078" y="3428997"/>
            <a:ext cx="10495904" cy="2306639"/>
          </a:xfrm>
        </p:spPr>
        <p:txBody>
          <a:bodyPr/>
          <a:lstStyle>
            <a:lvl1pPr marL="0" indent="0" algn="l">
              <a:buNone/>
              <a:defRPr sz="2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39" name="Right Triangle 38">
            <a:extLst>
              <a:ext uri="{FF2B5EF4-FFF2-40B4-BE49-F238E27FC236}">
                <a16:creationId xmlns:a16="http://schemas.microsoft.com/office/drawing/2014/main" id="{2437C4A8-8E3A-4ADA-93B9-64737CE1ABB1}"/>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ACC7A76F-3401-4F50-AE85-8F2AA247B99F}"/>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5" name="Footer Placeholder 4">
            <a:extLst>
              <a:ext uri="{FF2B5EF4-FFF2-40B4-BE49-F238E27FC236}">
                <a16:creationId xmlns:a16="http://schemas.microsoft.com/office/drawing/2014/main" id="{DEF02E50-D34E-4DD4-8B3B-55D08F25F50A}"/>
              </a:ext>
            </a:extLst>
          </p:cNvPr>
          <p:cNvSpPr>
            <a:spLocks noGrp="1"/>
          </p:cNvSpPr>
          <p:nvPr>
            <p:ph type="ftr" sz="quarter" idx="11"/>
          </p:nvPr>
        </p:nvSpPr>
        <p:spPr>
          <a:xfrm>
            <a:off x="691078" y="236364"/>
            <a:ext cx="4114800" cy="417126"/>
          </a:xfrm>
        </p:spPr>
        <p:txBody>
          <a:bodyPr/>
          <a:lstStyle/>
          <a:p>
            <a:endParaRPr lang="en-US" dirty="0"/>
          </a:p>
        </p:txBody>
      </p:sp>
      <p:sp>
        <p:nvSpPr>
          <p:cNvPr id="6" name="Slide Number Placeholder 5">
            <a:extLst>
              <a:ext uri="{FF2B5EF4-FFF2-40B4-BE49-F238E27FC236}">
                <a16:creationId xmlns:a16="http://schemas.microsoft.com/office/drawing/2014/main" id="{37B53B71-D2FA-4DDC-9C9C-E26F7B591A8E}"/>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469348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D8D6B-70A2-430A-9F5D-DA093D8C16CF}"/>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94A2845-6CA6-4745-A951-25B8D5319D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49424-7A20-4BA1-9F60-671A5DBB3B13}"/>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5" name="Footer Placeholder 4">
            <a:extLst>
              <a:ext uri="{FF2B5EF4-FFF2-40B4-BE49-F238E27FC236}">
                <a16:creationId xmlns:a16="http://schemas.microsoft.com/office/drawing/2014/main" id="{4F1BD2B2-E17F-402E-8EA3-5C7C1118A8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D23070-8658-4AC0-B2A3-4BE605A840F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507448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A69DB7AC-F7D7-430A-A2A7-CD3EBBF1D35D}"/>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66AAF10E-F092-4160-BF4A-FF568555B790}"/>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6341C04-9B94-4385-A661-7B8C17000497}"/>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4C1D709-6A0F-409C-B2D0-C248E562265E}"/>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999BE53-BA11-4B67-BFBB-6281DB50C75D}"/>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662D93-31C1-4DFB-A938-E631F89AA9F0}"/>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ECC8DA-0BEC-4508-89D4-12FA35B481F5}"/>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7DC8E6C-1B78-4B89-82DD-BBA778CD1482}"/>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8E5F54A-0315-4B15-B865-1F0460526260}"/>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DD7F352-DE39-4835-8D3F-69CDEC490F1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D6F20A-F777-4F41-B23B-735A64FA5DA3}"/>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1BBADBA-0F74-418B-BC50-AD44596C3EF8}"/>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918BE26-88E5-457C-8095-745F34D1536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4FB269E0-E058-4340-B93D-7D40FFF521F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DD9AEE-5501-4385-B339-4616F567B53D}"/>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4D29C61-8926-4C98-882B-AB90108C8386}"/>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585F9-B633-4F7E-AADE-75079DC17158}"/>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5DC6366-5525-4FBC-9886-D4409F6B2993}"/>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CC03CF9-098C-4140-806A-023D3DC3F2E3}"/>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C41BC4-89DF-4EC4-A141-9EF16D8EEB5B}"/>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32AD067-E64C-499E-9C0A-A7252587441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653DD54-FA2B-4B91-A94E-3C46AE21B385}"/>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586AC204-156B-442E-B028-01036BD1F26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03512DE-F013-431A-9F6E-ADDA88FB2DD5}"/>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E95FEE1-61A9-4065-B9F8-5589180AC62B}"/>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028AA59-C1FA-46C0-BFDD-1C1D3404C81C}"/>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A5C99EE-B791-470A-8639-0357A751EB43}"/>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54F4204-F48B-4AF5-B11E-0CE7D972AC3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076643FE-3966-4B82-9623-C61A56EDD20C}"/>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DD769C5-B1B1-45BD-A40A-67E6568C843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2A511707-50C7-48B2-81F7-5C82BF57795C}"/>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838D44F3-CCFE-48A0-8414-FFF5E43D9184}"/>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2D126FE0-8204-40BB-AD46-4A0C7A47514C}"/>
              </a:ext>
            </a:extLst>
          </p:cNvPr>
          <p:cNvSpPr>
            <a:spLocks noGrp="1"/>
          </p:cNvSpPr>
          <p:nvPr>
            <p:ph type="title"/>
          </p:nvPr>
        </p:nvSpPr>
        <p:spPr>
          <a:xfrm>
            <a:off x="691078" y="718115"/>
            <a:ext cx="10312571" cy="2781501"/>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25E350-4200-419C-A167-527DD6B77792}"/>
              </a:ext>
            </a:extLst>
          </p:cNvPr>
          <p:cNvSpPr>
            <a:spLocks noGrp="1"/>
          </p:cNvSpPr>
          <p:nvPr>
            <p:ph type="body" idx="1"/>
          </p:nvPr>
        </p:nvSpPr>
        <p:spPr>
          <a:xfrm>
            <a:off x="691078" y="3753350"/>
            <a:ext cx="10312571" cy="1991572"/>
          </a:xfrm>
        </p:spPr>
        <p:txBody>
          <a:bodyPr/>
          <a:lstStyle>
            <a:lvl1pPr marL="0" indent="0">
              <a:buNone/>
              <a:defRPr lang="en-US" sz="2400" kern="1200" smtClean="0">
                <a:solidFill>
                  <a:schemeClr val="tx2"/>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39" name="Right Triangle 38">
            <a:extLst>
              <a:ext uri="{FF2B5EF4-FFF2-40B4-BE49-F238E27FC236}">
                <a16:creationId xmlns:a16="http://schemas.microsoft.com/office/drawing/2014/main" id="{6741F519-22CF-4C01-B140-5480DBAB30F8}"/>
              </a:ext>
              <a:ext uri="{C183D7F6-B498-43B3-948B-1728B52AA6E4}">
                <adec:decorative xmlns:adec="http://schemas.microsoft.com/office/drawing/2017/decorative" val="1"/>
              </a:ext>
            </a:extLst>
          </p:cNvPr>
          <p:cNvSpPr/>
          <p:nvPr/>
        </p:nvSpPr>
        <p:spPr>
          <a:xfrm rot="13500000">
            <a:off x="-281093" y="260790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D05D1550-9064-4767-B70A-3501AF956C94}"/>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5" name="Footer Placeholder 4">
            <a:extLst>
              <a:ext uri="{FF2B5EF4-FFF2-40B4-BE49-F238E27FC236}">
                <a16:creationId xmlns:a16="http://schemas.microsoft.com/office/drawing/2014/main" id="{581E1C33-2E8E-4041-9683-12048CB8AB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D36992-B921-4F3F-9C4A-0D67E618D114}"/>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6314756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CFDF5-4B31-4F1B-83BA-82A9510379F2}"/>
              </a:ext>
            </a:extLst>
          </p:cNvPr>
          <p:cNvSpPr>
            <a:spLocks noGrp="1"/>
          </p:cNvSpPr>
          <p:nvPr>
            <p:ph type="title"/>
          </p:nvPr>
        </p:nvSpPr>
        <p:spPr>
          <a:xfrm>
            <a:off x="691078" y="722903"/>
            <a:ext cx="10312571" cy="1354844"/>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14EC9A6-F718-4497-8A75-637EE17458E0}"/>
              </a:ext>
            </a:extLst>
          </p:cNvPr>
          <p:cNvSpPr>
            <a:spLocks noGrp="1"/>
          </p:cNvSpPr>
          <p:nvPr>
            <p:ph sz="half" idx="1"/>
          </p:nvPr>
        </p:nvSpPr>
        <p:spPr>
          <a:xfrm>
            <a:off x="691078" y="2345843"/>
            <a:ext cx="500958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D503E57-9695-4508-9778-B3DB1FB5FAB6}"/>
              </a:ext>
            </a:extLst>
          </p:cNvPr>
          <p:cNvSpPr>
            <a:spLocks noGrp="1"/>
          </p:cNvSpPr>
          <p:nvPr>
            <p:ph sz="half" idx="2"/>
          </p:nvPr>
        </p:nvSpPr>
        <p:spPr>
          <a:xfrm>
            <a:off x="5935075" y="2345843"/>
            <a:ext cx="5068574" cy="3274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474CEE6-B9DC-4CCC-8F4C-0B4DADFB0195}"/>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6" name="Footer Placeholder 5">
            <a:extLst>
              <a:ext uri="{FF2B5EF4-FFF2-40B4-BE49-F238E27FC236}">
                <a16:creationId xmlns:a16="http://schemas.microsoft.com/office/drawing/2014/main" id="{2AC85191-5804-47C9-95EB-D49D715737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6B0A03-44F6-4299-B45D-E07A023906F0}"/>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189559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20E6-CC97-4BD8-92FE-8F36024D0E38}"/>
              </a:ext>
            </a:extLst>
          </p:cNvPr>
          <p:cNvSpPr>
            <a:spLocks noGrp="1"/>
          </p:cNvSpPr>
          <p:nvPr>
            <p:ph type="title"/>
          </p:nvPr>
        </p:nvSpPr>
        <p:spPr>
          <a:xfrm>
            <a:off x="691078" y="722900"/>
            <a:ext cx="10320062" cy="140750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3872FB-EDD5-42FB-8A9A-279EAD4FB0D9}"/>
              </a:ext>
            </a:extLst>
          </p:cNvPr>
          <p:cNvSpPr>
            <a:spLocks noGrp="1"/>
          </p:cNvSpPr>
          <p:nvPr>
            <p:ph type="body" idx="1"/>
          </p:nvPr>
        </p:nvSpPr>
        <p:spPr>
          <a:xfrm>
            <a:off x="691078" y="2331481"/>
            <a:ext cx="4963444"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5F28C1-95C8-476A-8D93-D580DD39D8F7}"/>
              </a:ext>
            </a:extLst>
          </p:cNvPr>
          <p:cNvSpPr>
            <a:spLocks noGrp="1"/>
          </p:cNvSpPr>
          <p:nvPr>
            <p:ph sz="half" idx="2"/>
          </p:nvPr>
        </p:nvSpPr>
        <p:spPr>
          <a:xfrm>
            <a:off x="691078" y="2954564"/>
            <a:ext cx="4963444"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4315485-EE1A-41B0-873A-BA9D06E88BFD}"/>
              </a:ext>
            </a:extLst>
          </p:cNvPr>
          <p:cNvSpPr>
            <a:spLocks noGrp="1"/>
          </p:cNvSpPr>
          <p:nvPr>
            <p:ph type="body" sz="quarter" idx="3"/>
          </p:nvPr>
        </p:nvSpPr>
        <p:spPr>
          <a:xfrm>
            <a:off x="6103351" y="2331481"/>
            <a:ext cx="4900298" cy="54007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81A6FB-1583-4A1B-A4A7-C65062C57B73}"/>
              </a:ext>
            </a:extLst>
          </p:cNvPr>
          <p:cNvSpPr>
            <a:spLocks noGrp="1"/>
          </p:cNvSpPr>
          <p:nvPr>
            <p:ph sz="quarter" idx="4"/>
          </p:nvPr>
        </p:nvSpPr>
        <p:spPr>
          <a:xfrm>
            <a:off x="6103351" y="2954564"/>
            <a:ext cx="4900298" cy="2790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3A29EA7-E61E-4617-9DA9-40B9299B3287}"/>
              </a:ext>
            </a:extLst>
          </p:cNvPr>
          <p:cNvSpPr>
            <a:spLocks noGrp="1"/>
          </p:cNvSpPr>
          <p:nvPr>
            <p:ph type="dt" sz="half" idx="10"/>
          </p:nvPr>
        </p:nvSpPr>
        <p:spPr>
          <a:xfrm>
            <a:off x="683587" y="6215870"/>
            <a:ext cx="3843779" cy="417126"/>
          </a:xfrm>
        </p:spPr>
        <p:txBody>
          <a:bodyPr/>
          <a:lstStyle/>
          <a:p>
            <a:fld id="{8F72BA41-EC5B-4197-BCC8-0FD2E523CD7A}" type="datetimeFigureOut">
              <a:rPr lang="en-US" smtClean="0"/>
              <a:t>2/19/2025</a:t>
            </a:fld>
            <a:endParaRPr lang="en-US"/>
          </a:p>
        </p:txBody>
      </p:sp>
      <p:sp>
        <p:nvSpPr>
          <p:cNvPr id="8" name="Footer Placeholder 7">
            <a:extLst>
              <a:ext uri="{FF2B5EF4-FFF2-40B4-BE49-F238E27FC236}">
                <a16:creationId xmlns:a16="http://schemas.microsoft.com/office/drawing/2014/main" id="{D56249CC-EB72-46A6-87D9-5FBDA8E450EC}"/>
              </a:ext>
            </a:extLst>
          </p:cNvPr>
          <p:cNvSpPr>
            <a:spLocks noGrp="1"/>
          </p:cNvSpPr>
          <p:nvPr>
            <p:ph type="ftr" sz="quarter" idx="11"/>
          </p:nvPr>
        </p:nvSpPr>
        <p:spPr>
          <a:xfrm>
            <a:off x="691078" y="236364"/>
            <a:ext cx="4114800" cy="417126"/>
          </a:xfrm>
        </p:spPr>
        <p:txBody>
          <a:bodyPr/>
          <a:lstStyle/>
          <a:p>
            <a:endParaRPr lang="en-US" dirty="0"/>
          </a:p>
        </p:txBody>
      </p:sp>
      <p:sp>
        <p:nvSpPr>
          <p:cNvPr id="9" name="Slide Number Placeholder 8">
            <a:extLst>
              <a:ext uri="{FF2B5EF4-FFF2-40B4-BE49-F238E27FC236}">
                <a16:creationId xmlns:a16="http://schemas.microsoft.com/office/drawing/2014/main" id="{EAA04EE7-47BE-4ECE-A170-793C4E569518}"/>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215666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E4946-24AD-40DD-95A7-49BA49C227DF}"/>
              </a:ext>
            </a:extLst>
          </p:cNvPr>
          <p:cNvSpPr>
            <a:spLocks noGrp="1"/>
          </p:cNvSpPr>
          <p:nvPr>
            <p:ph type="title"/>
          </p:nvPr>
        </p:nvSpPr>
        <p:spPr>
          <a:xfrm>
            <a:off x="691078" y="722903"/>
            <a:ext cx="10501177" cy="1401231"/>
          </a:xfrm>
        </p:spPr>
        <p:txBody>
          <a:bodyPr/>
          <a:lstStyle>
            <a:lvl1pP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7D8CF342-49F6-482D-943E-7E50B1694AE3}"/>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4" name="Footer Placeholder 3">
            <a:extLst>
              <a:ext uri="{FF2B5EF4-FFF2-40B4-BE49-F238E27FC236}">
                <a16:creationId xmlns:a16="http://schemas.microsoft.com/office/drawing/2014/main" id="{064033E5-3797-4FF8-866F-9FD9325A9FAB}"/>
              </a:ext>
            </a:extLst>
          </p:cNvPr>
          <p:cNvSpPr>
            <a:spLocks noGrp="1"/>
          </p:cNvSpPr>
          <p:nvPr>
            <p:ph type="ftr" sz="quarter" idx="11"/>
          </p:nvPr>
        </p:nvSpPr>
        <p:spPr>
          <a:xfrm>
            <a:off x="691078" y="236364"/>
            <a:ext cx="4114800" cy="417126"/>
          </a:xfrm>
        </p:spPr>
        <p:txBody>
          <a:bodyPr/>
          <a:lstStyle/>
          <a:p>
            <a:endParaRPr lang="en-US"/>
          </a:p>
        </p:txBody>
      </p:sp>
      <p:sp>
        <p:nvSpPr>
          <p:cNvPr id="5" name="Slide Number Placeholder 4">
            <a:extLst>
              <a:ext uri="{FF2B5EF4-FFF2-40B4-BE49-F238E27FC236}">
                <a16:creationId xmlns:a16="http://schemas.microsoft.com/office/drawing/2014/main" id="{66DC1E67-424D-4638-98F8-38E71A41001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649468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45BED274-5EB4-4EF4-B353-E55BD502655C}"/>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6" name="Straight Connector 5">
              <a:extLst>
                <a:ext uri="{FF2B5EF4-FFF2-40B4-BE49-F238E27FC236}">
                  <a16:creationId xmlns:a16="http://schemas.microsoft.com/office/drawing/2014/main" id="{E0418BE5-560E-4E49-B12D-B555511FED72}"/>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49D1162-73B9-420F-BCBE-95039D00CD24}"/>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2BA76FE-316A-48E2-A03B-4E05691C4348}"/>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E678FBC-A6AD-4422-BA24-A4172F8862CA}"/>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D3C5C3E-2D08-43F0-AFAC-E15360CA7D3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0BEAC62-AF92-4A65-9790-6F6E0C6C5A1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C77D7C5-E76E-4E82-BFC4-9A75D2C8089D}"/>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66E0152-96B9-4067-80D3-D9BDE6D7EC9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918AFCC-B9DA-4092-8FBA-2CFEDB0388E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1EC7D33-C87E-4812-A722-53C5D99272B5}"/>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5F239E3-501A-4C3C-9BE4-6BFA0D3126B7}"/>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B62BF3B-95BB-4188-AAE5-015A0EF3D18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4E5F0F-0124-40D0-A0BF-AE307A0E15F4}"/>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BADC3B1-26C7-4CF1-B29D-4D0DEA3E2633}"/>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A7DF6E-1132-4A80-9B18-593B1ACD778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EF19589-10D8-4A8F-A0B1-F7CE380E3001}"/>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E6BB32-C4F8-4914-88D3-7DC5E79D023E}"/>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8F046EE-9DBA-4924-A19C-ED8741F5F810}"/>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AABBC44-ABA8-4913-824E-64D344724644}"/>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4272B22-1C39-47A0-8551-73666AFBE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8CDFF66-464C-4ABF-BB01-00500A3B7517}"/>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079FC88-BD3B-4C04-9B90-0FC93C179217}"/>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FCAED8-8687-4141-A7C3-0D88ACEDFEC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65038E6-7B32-460F-B804-D6C105FF44C9}"/>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C5DAE85-AD17-454B-AB64-CEFF52FDAB9D}"/>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C603643-2066-4967-AE4B-9DA143843B2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7E9533-9B07-43E3-B939-7BADC01FEE86}"/>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DCCAAEE-AB2E-4534-893A-3DB109499FB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8BD39A2-970F-4714-AAA6-67EE99A0EAA9}"/>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F4A1387-348B-4E46-9B65-FDF76ED0EF20}"/>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F5DAF27-A54D-442A-93E4-BA7F04EAE379}"/>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Date Placeholder 1">
            <a:extLst>
              <a:ext uri="{FF2B5EF4-FFF2-40B4-BE49-F238E27FC236}">
                <a16:creationId xmlns:a16="http://schemas.microsoft.com/office/drawing/2014/main" id="{D2EA265F-80A1-448D-A6EB-CE8D6F6EC723}"/>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3" name="Footer Placeholder 2">
            <a:extLst>
              <a:ext uri="{FF2B5EF4-FFF2-40B4-BE49-F238E27FC236}">
                <a16:creationId xmlns:a16="http://schemas.microsoft.com/office/drawing/2014/main" id="{4815D00D-89E6-4E7A-9A4D-A8CCEB3BED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22B5AEA-8C38-4776-878C-AB01474D9171}"/>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19821993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40" name="Right Triangle 39">
            <a:extLst>
              <a:ext uri="{FF2B5EF4-FFF2-40B4-BE49-F238E27FC236}">
                <a16:creationId xmlns:a16="http://schemas.microsoft.com/office/drawing/2014/main" id="{C4853C57-22BC-4465-8B37-DC06FE5A0003}"/>
              </a:ext>
              <a:ext uri="{C183D7F6-B498-43B3-948B-1728B52AA6E4}">
                <adec:decorative xmlns:adec="http://schemas.microsoft.com/office/drawing/2017/decorative" val="1"/>
              </a:ext>
            </a:extLst>
          </p:cNvPr>
          <p:cNvSpPr/>
          <p:nvPr/>
        </p:nvSpPr>
        <p:spPr>
          <a:xfrm rot="13500000">
            <a:off x="-281092" y="3144857"/>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7E67C0A6-48E9-4845-9EBF-EF2A3DFD274F}"/>
              </a:ext>
            </a:extLst>
          </p:cNvPr>
          <p:cNvSpPr>
            <a:spLocks noGrp="1"/>
          </p:cNvSpPr>
          <p:nvPr>
            <p:ph type="title"/>
          </p:nvPr>
        </p:nvSpPr>
        <p:spPr>
          <a:xfrm>
            <a:off x="683587" y="713677"/>
            <a:ext cx="4499914" cy="2996581"/>
          </a:xfrm>
        </p:spPr>
        <p:txBody>
          <a:bodyPr anchor="b">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A8B542-2084-485C-ABFC-94340B4C7E77}"/>
              </a:ext>
            </a:extLst>
          </p:cNvPr>
          <p:cNvSpPr>
            <a:spLocks noGrp="1"/>
          </p:cNvSpPr>
          <p:nvPr>
            <p:ph idx="1"/>
          </p:nvPr>
        </p:nvSpPr>
        <p:spPr>
          <a:xfrm>
            <a:off x="5698672" y="708102"/>
            <a:ext cx="5656716" cy="54306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9647791F-9546-470D-A174-D75285263C2C}"/>
              </a:ext>
            </a:extLst>
          </p:cNvPr>
          <p:cNvSpPr>
            <a:spLocks noGrp="1"/>
          </p:cNvSpPr>
          <p:nvPr>
            <p:ph type="body" sz="half" idx="2"/>
          </p:nvPr>
        </p:nvSpPr>
        <p:spPr>
          <a:xfrm>
            <a:off x="683587" y="3976544"/>
            <a:ext cx="4499914" cy="2162201"/>
          </a:xfrm>
        </p:spPr>
        <p:txBody>
          <a:bodyPr>
            <a:normAutofit/>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marL="0" lvl="0" indent="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None/>
            </a:pPr>
            <a:r>
              <a:rPr lang="en-US"/>
              <a:t>Click to edit Master text styles</a:t>
            </a:r>
          </a:p>
        </p:txBody>
      </p:sp>
      <p:grpSp>
        <p:nvGrpSpPr>
          <p:cNvPr id="8" name="Group 7">
            <a:extLst>
              <a:ext uri="{FF2B5EF4-FFF2-40B4-BE49-F238E27FC236}">
                <a16:creationId xmlns:a16="http://schemas.microsoft.com/office/drawing/2014/main" id="{0550D594-9D00-4E12-9A7B-8B78EC19948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C5DEA230-2680-47DD-BD49-FDBF4C1105A5}"/>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0BA61D-887F-46F1-B20D-EA4C38D467C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350DFBA-D16D-4AE0-8339-58C4089B94AD}"/>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F4AAAA5-CEFC-4C25-91D3-5AE49F720DA5}"/>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4D142AD-3FA3-43E4-8A61-61CF1E415684}"/>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C3755A3-93F4-4EC4-9635-7E89E4AF1D3F}"/>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0BFB588-0AB8-4BD8-9272-1CA867726018}"/>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45A6DF3-CF29-4480-A235-EAE88D65A63C}"/>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6FF036-365A-4C15-8E15-0D5BBEBCEA58}"/>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85E76FF-4E86-4E42-B67E-B11AAE8D3076}"/>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1A64CEE-7CED-4EB2-A414-6F2D91E824F9}"/>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12C571B-47A6-49EB-A29F-678368BAED9F}"/>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160B109-845C-4119-BB66-9887B3859A7D}"/>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68B7447-FF64-42D9-B3C6-2BDC6F547ED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FFF9B71-8653-450D-AFBE-2140D586FB5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F0B9E5A-C1DA-445C-A911-721DF98DDCDD}"/>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5C9A3DC-A478-4469-9359-34A435689F3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7DE3299-EED7-4771-A270-F6B02941AD6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434422A-5B59-41DC-8E2A-1A8244580E30}"/>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176117-0990-434B-A9D9-B4B9043C5447}"/>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7D6425E-C84A-462F-98F8-D0AB4FC3AF88}"/>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13AB68-7321-4AC2-AC60-0F417877D07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E275CCE-D06F-49D0-8A47-372C5040330B}"/>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D4B374E-EEBC-4A9C-B3B4-B269EC719857}"/>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D80A7E6-BBEF-4EF1-B14A-29F26BFCF8E6}"/>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D7BC013-9B50-459D-8B8D-F756514A478B}"/>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48964C0-675D-4807-B795-4B695A8F8420}"/>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6911512-51A8-4CE7-A043-425C809EB5FB}"/>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3C15D1E-0EDF-4AD7-90C7-3D8D64E645DB}"/>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8265A2D-2A6A-4301-B59F-8BAD98D9A57B}"/>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D4A4907F-2D1D-49D1-882D-119AA5E1183B}"/>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AF6A2284-37AB-43F5-98B8-8AB49DBFA9F5}"/>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6" name="Footer Placeholder 5">
            <a:extLst>
              <a:ext uri="{FF2B5EF4-FFF2-40B4-BE49-F238E27FC236}">
                <a16:creationId xmlns:a16="http://schemas.microsoft.com/office/drawing/2014/main" id="{9AD8ABAA-E2F7-4C89-99ED-2C340220DD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52EF12-B2CD-4F3C-9F19-A8691540501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86821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0DDA6865-0A03-48FA-AD6E-D5BF8FDE9272}"/>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9" name="Straight Connector 8">
              <a:extLst>
                <a:ext uri="{FF2B5EF4-FFF2-40B4-BE49-F238E27FC236}">
                  <a16:creationId xmlns:a16="http://schemas.microsoft.com/office/drawing/2014/main" id="{2277E8EB-0DA2-40E4-AD12-1CCD0D262D0B}"/>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5BFE9F8-907A-4FFC-9FDE-2B51D238C40E}"/>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BDDC323-8732-4007-BB81-1BE917E3B2FF}"/>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908FC40-8403-438D-95CA-E4EDC66192A9}"/>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411D218-3FEA-4455-9809-91F029FB55AE}"/>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541390F-BE50-4E4E-9DA2-B5F23F1A93D8}"/>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EB3F094-97B5-48E1-A4DE-8BEED2550283}"/>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D4DBB43-CB34-4881-9445-A7FE131D5327}"/>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71F972-027A-47F0-996C-84BFE4574050}"/>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3C41353D-93C8-43F8-BBDE-7AB6B29EC38C}"/>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CF07B24-CBD8-4F09-81EB-504285F8E11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7873BB-1D79-4055-801C-BDA0F9A15136}"/>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008D42B-2F35-497E-A26D-9AF008619D43}"/>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7F57499-C4D9-4B7D-BADA-38462AA3164E}"/>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271F2B9-1FFA-4350-9370-B098459A2324}"/>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FBAFFC-DC8F-4BB4-B405-E4AAA269AED4}"/>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94FCE64-D7A5-411A-8795-932DD39F9520}"/>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B4ECFC-FD43-44CF-B7FA-2A8C5651400F}"/>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9DFBC12-1E1D-44DE-9966-BAB05B246636}"/>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9BEF096-361C-478B-81EB-37584119BFEE}"/>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FC81993-CE86-4910-B9CE-B69375BDCEE3}"/>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75613D7-9FB0-4D33-8784-EC059DE019C8}"/>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520AFD9-E849-4F42-99B2-928E6098C29A}"/>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A200B0B-91CD-4D66-ADFC-9585D283103C}"/>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B5DB0C45-30CE-4C85-95C6-FFF4977C646A}"/>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C31604-5F93-436D-A9D2-A48846D4E0DE}"/>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1FF1B965-7DE1-4AE3-B28B-DB6847BC52CC}"/>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FD9FB65-4392-4D6A-8ACC-8151F682BFE8}"/>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B40380C-3493-4AFE-BF13-AE68A8D244B4}"/>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3CB21DF1-4859-4991-9C10-F8FA68F41013}"/>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54AD212-17DC-4506-AAA0-34A46A0B11C3}"/>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35B556E7-762B-4E18-A961-A4F7A9ECF9D8}"/>
              </a:ext>
            </a:extLst>
          </p:cNvPr>
          <p:cNvSpPr>
            <a:spLocks noGrp="1"/>
          </p:cNvSpPr>
          <p:nvPr>
            <p:ph type="title"/>
          </p:nvPr>
        </p:nvSpPr>
        <p:spPr>
          <a:xfrm>
            <a:off x="683587" y="713677"/>
            <a:ext cx="4434823" cy="3020519"/>
          </a:xfrm>
        </p:spPr>
        <p:txBody>
          <a:bodyPr anchor="b">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FB7118AF-C54D-406D-AABE-AED6576D1281}"/>
              </a:ext>
            </a:extLst>
          </p:cNvPr>
          <p:cNvSpPr>
            <a:spLocks noGrp="1"/>
          </p:cNvSpPr>
          <p:nvPr>
            <p:ph type="pic" idx="1"/>
          </p:nvPr>
        </p:nvSpPr>
        <p:spPr>
          <a:xfrm>
            <a:off x="5698672" y="713677"/>
            <a:ext cx="5304977" cy="543064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0" name="Right Triangle 39">
            <a:extLst>
              <a:ext uri="{FF2B5EF4-FFF2-40B4-BE49-F238E27FC236}">
                <a16:creationId xmlns:a16="http://schemas.microsoft.com/office/drawing/2014/main" id="{205CDEB9-8DED-4711-8140-4C943FC2CDA0}"/>
              </a:ext>
              <a:ext uri="{C183D7F6-B498-43B3-948B-1728B52AA6E4}">
                <adec:decorative xmlns:adec="http://schemas.microsoft.com/office/drawing/2017/decorative" val="1"/>
              </a:ext>
            </a:extLst>
          </p:cNvPr>
          <p:cNvSpPr/>
          <p:nvPr/>
        </p:nvSpPr>
        <p:spPr>
          <a:xfrm rot="13500000">
            <a:off x="-281093" y="314330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 Placeholder 3">
            <a:extLst>
              <a:ext uri="{FF2B5EF4-FFF2-40B4-BE49-F238E27FC236}">
                <a16:creationId xmlns:a16="http://schemas.microsoft.com/office/drawing/2014/main" id="{02E13C3F-6360-4760-9477-C3831A6E26EF}"/>
              </a:ext>
            </a:extLst>
          </p:cNvPr>
          <p:cNvSpPr>
            <a:spLocks noGrp="1"/>
          </p:cNvSpPr>
          <p:nvPr>
            <p:ph type="body" sz="half" idx="2"/>
          </p:nvPr>
        </p:nvSpPr>
        <p:spPr>
          <a:xfrm>
            <a:off x="683587" y="3970330"/>
            <a:ext cx="4434823" cy="2173992"/>
          </a:xfrm>
        </p:spPr>
        <p:txBody>
          <a:bodyPr/>
          <a:lstStyle>
            <a:lvl1pPr marL="0" indent="0">
              <a:buNone/>
              <a:defRPr lang="en-US" sz="2400" b="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192D3B-60EE-4FC5-9ED7-4445300844CA}"/>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6" name="Footer Placeholder 5">
            <a:extLst>
              <a:ext uri="{FF2B5EF4-FFF2-40B4-BE49-F238E27FC236}">
                <a16:creationId xmlns:a16="http://schemas.microsoft.com/office/drawing/2014/main" id="{5BCF831E-9B19-4936-8BC9-F62A9B118B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71E1D1-F7A2-40D0-91DA-07468A9651E7}"/>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4059610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BD70F-ACE4-4595-845E-2296BDF83B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6978CD9-E0B5-4B48-8366-91E6D22C9F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FAF4B4-44D3-4E29-B235-A1B868207789}"/>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5" name="Footer Placeholder 4">
            <a:extLst>
              <a:ext uri="{FF2B5EF4-FFF2-40B4-BE49-F238E27FC236}">
                <a16:creationId xmlns:a16="http://schemas.microsoft.com/office/drawing/2014/main" id="{E2D7BA37-9639-480E-84AB-EA277225C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BFC658-154E-48DE-AD31-813E5170C93C}"/>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302163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65405209-5179-4359-91ED-1B1A46619A99}"/>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8" name="Straight Connector 7">
              <a:extLst>
                <a:ext uri="{FF2B5EF4-FFF2-40B4-BE49-F238E27FC236}">
                  <a16:creationId xmlns:a16="http://schemas.microsoft.com/office/drawing/2014/main" id="{0E32344F-3BE0-4CE8-B1BD-9ABD425E1C0D}"/>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99DE306-F4FB-4730-A066-ADF38D739563}"/>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CCB32885-303F-477F-A081-27425944F230}"/>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60C0C0B-4CD0-467D-A382-2B2415102C48}"/>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788DF0F-327F-43A5-AB71-3D32053D83CA}"/>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98A0902-2662-4911-A532-AA6310861479}"/>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ABDA4F7-23F4-46D1-8B7E-A21DD84083E1}"/>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7FC9FC2-8808-438E-8FFB-5FE416BFB5C8}"/>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04694E5-71F9-4210-9BE8-FC12CC177BD3}"/>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0B37E805-A7E5-4906-B0C5-1373F3DA962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A4CD964-FBD6-41AB-8A02-9509A2BAC11F}"/>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9CD7FF8-E827-4E0A-BCE2-CCB34EDAC0F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C4AD6BB-F1EE-4FB8-96E8-6890447800EC}"/>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E935057-E0A3-4DAE-B9C8-6E818D7A7205}"/>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08DDF69-1C14-453C-BC3A-37D3FE69DFC7}"/>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6C26D82-15BA-4B2E-A42D-2ECA8012D307}"/>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F73B67-E5E9-4000-91DA-034B2127EFD2}"/>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AFAC1B5-F0DD-4FC0-B4C9-77CB29DF4425}"/>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9ACB3DB-54B2-4CEE-A791-C6FC6C758DAE}"/>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8324004-1030-47D9-B817-425FF6ECCECC}"/>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AA001C4-81AB-4FA6-ADAA-C8618056353B}"/>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D1DAD34-7844-4F16-9874-F51F2A23B9EA}"/>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7DCBC6D-1BDA-4CB1-A3EC-59F240C8FA19}"/>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E5B3C1A0-58E7-47E4-831B-CF3EE21D1E90}"/>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8A09FAA-E123-4FE4-B67A-9EBDE1A3130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317B7C6-C816-4A58-B184-135E4FD19F55}"/>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24D22ABB-4CE8-47DC-80BF-39B3E4CF7048}"/>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3A17DE37-A292-4031-AF42-CDB00A13EE76}"/>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73EF673-CB75-435F-9BF3-7594EC3ADF8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35F4581-15F6-47EE-87D0-1132A093DBA5}"/>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65CF984-F5BD-45C4-9A12-B02DB4F044E1}"/>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39" name="Right Triangle 38">
            <a:extLst>
              <a:ext uri="{FF2B5EF4-FFF2-40B4-BE49-F238E27FC236}">
                <a16:creationId xmlns:a16="http://schemas.microsoft.com/office/drawing/2014/main" id="{ACE66A86-8455-497B-9CA4-F460A19E5FBB}"/>
              </a:ext>
              <a:ext uri="{C183D7F6-B498-43B3-948B-1728B52AA6E4}">
                <adec:decorative xmlns:adec="http://schemas.microsoft.com/office/drawing/2017/decorative" val="1"/>
              </a:ext>
            </a:extLst>
          </p:cNvPr>
          <p:cNvSpPr/>
          <p:nvPr/>
        </p:nvSpPr>
        <p:spPr>
          <a:xfrm rot="18900000">
            <a:off x="7770390" y="-287370"/>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Vertical Title 1">
            <a:extLst>
              <a:ext uri="{FF2B5EF4-FFF2-40B4-BE49-F238E27FC236}">
                <a16:creationId xmlns:a16="http://schemas.microsoft.com/office/drawing/2014/main" id="{5868C62B-71EF-4824-9EE8-6CAE17984232}"/>
              </a:ext>
            </a:extLst>
          </p:cNvPr>
          <p:cNvSpPr>
            <a:spLocks noGrp="1"/>
          </p:cNvSpPr>
          <p:nvPr>
            <p:ph type="title" orient="vert"/>
          </p:nvPr>
        </p:nvSpPr>
        <p:spPr>
          <a:xfrm>
            <a:off x="7707774" y="715616"/>
            <a:ext cx="3295876" cy="5026597"/>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243E4C8-4AA9-49D7-BF71-1AB5F2CFE1FC}"/>
              </a:ext>
            </a:extLst>
          </p:cNvPr>
          <p:cNvSpPr>
            <a:spLocks noGrp="1"/>
          </p:cNvSpPr>
          <p:nvPr>
            <p:ph type="body" orient="vert" idx="1"/>
          </p:nvPr>
        </p:nvSpPr>
        <p:spPr>
          <a:xfrm>
            <a:off x="683588" y="715616"/>
            <a:ext cx="6770448" cy="5026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97898B3-014E-440B-BA4E-106339212804}"/>
              </a:ext>
            </a:extLst>
          </p:cNvPr>
          <p:cNvSpPr>
            <a:spLocks noGrp="1"/>
          </p:cNvSpPr>
          <p:nvPr>
            <p:ph type="dt" sz="half" idx="10"/>
          </p:nvPr>
        </p:nvSpPr>
        <p:spPr/>
        <p:txBody>
          <a:bodyPr/>
          <a:lstStyle/>
          <a:p>
            <a:fld id="{8F72BA41-EC5B-4197-BCC8-0FD2E523CD7A}" type="datetimeFigureOut">
              <a:rPr lang="en-US" smtClean="0"/>
              <a:t>2/19/2025</a:t>
            </a:fld>
            <a:endParaRPr lang="en-US"/>
          </a:p>
        </p:txBody>
      </p:sp>
      <p:sp>
        <p:nvSpPr>
          <p:cNvPr id="5" name="Footer Placeholder 4">
            <a:extLst>
              <a:ext uri="{FF2B5EF4-FFF2-40B4-BE49-F238E27FC236}">
                <a16:creationId xmlns:a16="http://schemas.microsoft.com/office/drawing/2014/main" id="{81C22643-CE63-4C3E-B437-5A1A5EF911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D1CE5E-160A-4B37-94E2-3D9DC75BFFAF}"/>
              </a:ext>
            </a:extLst>
          </p:cNvPr>
          <p:cNvSpPr>
            <a:spLocks noGrp="1"/>
          </p:cNvSpPr>
          <p:nvPr>
            <p:ph type="sldNum" sz="quarter" idx="12"/>
          </p:nvPr>
        </p:nvSpPr>
        <p:spPr/>
        <p:txBody>
          <a:bodyPr/>
          <a:lstStyle/>
          <a:p>
            <a:fld id="{BE15108C-154A-4A5A-9C05-91A49A422BA7}" type="slidenum">
              <a:rPr lang="en-US" smtClean="0"/>
              <a:t>‹#›</a:t>
            </a:fld>
            <a:endParaRPr lang="en-US"/>
          </a:p>
        </p:txBody>
      </p:sp>
    </p:spTree>
    <p:extLst>
      <p:ext uri="{BB962C8B-B14F-4D97-AF65-F5344CB8AC3E}">
        <p14:creationId xmlns:p14="http://schemas.microsoft.com/office/powerpoint/2010/main" val="2203279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BDF0D99C-5D42-41C6-A50C-C4E2D6B2A36E}"/>
              </a:ext>
              <a:ext uri="{C183D7F6-B498-43B3-948B-1728B52AA6E4}">
                <adec:decorative xmlns:adec="http://schemas.microsoft.com/office/drawing/2017/decorative" val="1"/>
              </a:ext>
            </a:extLst>
          </p:cNvPr>
          <p:cNvGrpSpPr/>
          <p:nvPr/>
        </p:nvGrpSpPr>
        <p:grpSpPr>
          <a:xfrm>
            <a:off x="-6214" y="-1"/>
            <a:ext cx="12214827" cy="6858000"/>
            <a:chOff x="-6214" y="-1"/>
            <a:chExt cx="12214827" cy="6858000"/>
          </a:xfrm>
        </p:grpSpPr>
        <p:cxnSp>
          <p:nvCxnSpPr>
            <p:cNvPr id="40" name="Straight Connector 39">
              <a:extLst>
                <a:ext uri="{FF2B5EF4-FFF2-40B4-BE49-F238E27FC236}">
                  <a16:creationId xmlns:a16="http://schemas.microsoft.com/office/drawing/2014/main" id="{5F28962D-50BA-43F8-8863-28ECE711D3FC}"/>
                </a:ext>
              </a:extLst>
            </p:cNvPr>
            <p:cNvCxnSpPr>
              <a:cxnSpLocks/>
            </p:cNvCxnSpPr>
            <p:nvPr/>
          </p:nvCxnSpPr>
          <p:spPr>
            <a:xfrm>
              <a:off x="-6214" y="66862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80F5939-D4E0-46FD-9A5A-5D648E381092}"/>
                </a:ext>
              </a:extLst>
            </p:cNvPr>
            <p:cNvCxnSpPr>
              <a:cxnSpLocks/>
            </p:cNvCxnSpPr>
            <p:nvPr/>
          </p:nvCxnSpPr>
          <p:spPr>
            <a:xfrm>
              <a:off x="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33D331-78CB-40A1-B167-8185EC5D707B}"/>
                </a:ext>
              </a:extLst>
            </p:cNvPr>
            <p:cNvCxnSpPr>
              <a:cxnSpLocks/>
            </p:cNvCxnSpPr>
            <p:nvPr/>
          </p:nvCxnSpPr>
          <p:spPr>
            <a:xfrm>
              <a:off x="1199325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512E4B1-E78E-49E7-AA36-374CC1B084E4}"/>
                </a:ext>
              </a:extLst>
            </p:cNvPr>
            <p:cNvCxnSpPr>
              <a:cxnSpLocks/>
            </p:cNvCxnSpPr>
            <p:nvPr/>
          </p:nvCxnSpPr>
          <p:spPr>
            <a:xfrm>
              <a:off x="19252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7D46340-CBFC-490F-B44E-7AA8FBF58B05}"/>
                </a:ext>
              </a:extLst>
            </p:cNvPr>
            <p:cNvCxnSpPr>
              <a:cxnSpLocks/>
            </p:cNvCxnSpPr>
            <p:nvPr/>
          </p:nvCxnSpPr>
          <p:spPr>
            <a:xfrm>
              <a:off x="117592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3575C26C-3EBD-4AA9-BA4D-2561E295D65D}"/>
                </a:ext>
              </a:extLst>
            </p:cNvPr>
            <p:cNvCxnSpPr>
              <a:cxnSpLocks/>
            </p:cNvCxnSpPr>
            <p:nvPr/>
          </p:nvCxnSpPr>
          <p:spPr>
            <a:xfrm>
              <a:off x="215931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35DB6BE-E065-4559-BF5C-36B56B379040}"/>
                </a:ext>
              </a:extLst>
            </p:cNvPr>
            <p:cNvCxnSpPr>
              <a:cxnSpLocks/>
            </p:cNvCxnSpPr>
            <p:nvPr/>
          </p:nvCxnSpPr>
          <p:spPr>
            <a:xfrm>
              <a:off x="314271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3DA54272-CD9D-4F68-BBAB-4F0C0C3EC635}"/>
                </a:ext>
              </a:extLst>
            </p:cNvPr>
            <p:cNvCxnSpPr>
              <a:cxnSpLocks/>
            </p:cNvCxnSpPr>
            <p:nvPr/>
          </p:nvCxnSpPr>
          <p:spPr>
            <a:xfrm>
              <a:off x="412610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002CE8F-9256-4F2C-B474-58873717119E}"/>
                </a:ext>
              </a:extLst>
            </p:cNvPr>
            <p:cNvCxnSpPr>
              <a:cxnSpLocks/>
            </p:cNvCxnSpPr>
            <p:nvPr/>
          </p:nvCxnSpPr>
          <p:spPr>
            <a:xfrm>
              <a:off x="510949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59C9DE9F-4252-401D-913E-B74C9E326F98}"/>
                </a:ext>
              </a:extLst>
            </p:cNvPr>
            <p:cNvCxnSpPr>
              <a:cxnSpLocks/>
            </p:cNvCxnSpPr>
            <p:nvPr/>
          </p:nvCxnSpPr>
          <p:spPr>
            <a:xfrm>
              <a:off x="609289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FE4E69B-534F-4A80-9E1C-798BEE1B0795}"/>
                </a:ext>
              </a:extLst>
            </p:cNvPr>
            <p:cNvCxnSpPr>
              <a:cxnSpLocks/>
            </p:cNvCxnSpPr>
            <p:nvPr/>
          </p:nvCxnSpPr>
          <p:spPr>
            <a:xfrm>
              <a:off x="70762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7564E1C-009C-4832-AE8D-E98286693F0C}"/>
                </a:ext>
              </a:extLst>
            </p:cNvPr>
            <p:cNvCxnSpPr>
              <a:cxnSpLocks/>
            </p:cNvCxnSpPr>
            <p:nvPr/>
          </p:nvCxnSpPr>
          <p:spPr>
            <a:xfrm>
              <a:off x="8059680"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305DF1C-5801-43F2-A8B9-5351369418C0}"/>
                </a:ext>
              </a:extLst>
            </p:cNvPr>
            <p:cNvCxnSpPr>
              <a:cxnSpLocks/>
            </p:cNvCxnSpPr>
            <p:nvPr/>
          </p:nvCxnSpPr>
          <p:spPr>
            <a:xfrm>
              <a:off x="9043074"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806E71C8-0783-4E17-9B34-F51231DD2954}"/>
                </a:ext>
              </a:extLst>
            </p:cNvPr>
            <p:cNvCxnSpPr>
              <a:cxnSpLocks/>
            </p:cNvCxnSpPr>
            <p:nvPr/>
          </p:nvCxnSpPr>
          <p:spPr>
            <a:xfrm>
              <a:off x="10026468"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FD908F17-2A89-4B0A-A2EA-692390969FE0}"/>
                </a:ext>
              </a:extLst>
            </p:cNvPr>
            <p:cNvCxnSpPr>
              <a:cxnSpLocks/>
            </p:cNvCxnSpPr>
            <p:nvPr/>
          </p:nvCxnSpPr>
          <p:spPr>
            <a:xfrm>
              <a:off x="11009862"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FBE22751-380F-44F9-BEED-0A553CF87BE5}"/>
                </a:ext>
              </a:extLst>
            </p:cNvPr>
            <p:cNvCxnSpPr>
              <a:cxnSpLocks/>
            </p:cNvCxnSpPr>
            <p:nvPr/>
          </p:nvCxnSpPr>
          <p:spPr>
            <a:xfrm>
              <a:off x="12185786" y="-1"/>
              <a:ext cx="0" cy="685800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77B27910-846F-4E4E-B588-F5B2E026FE96}"/>
                </a:ext>
              </a:extLst>
            </p:cNvPr>
            <p:cNvCxnSpPr>
              <a:cxnSpLocks/>
            </p:cNvCxnSpPr>
            <p:nvPr/>
          </p:nvCxnSpPr>
          <p:spPr>
            <a:xfrm>
              <a:off x="0" y="17171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6E0501E-134E-46D7-984F-3A382B0BB29B}"/>
                </a:ext>
              </a:extLst>
            </p:cNvPr>
            <p:cNvCxnSpPr>
              <a:cxnSpLocks/>
            </p:cNvCxnSpPr>
            <p:nvPr/>
          </p:nvCxnSpPr>
          <p:spPr>
            <a:xfrm>
              <a:off x="0" y="71459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0A83974-CBD7-4A69-9D84-2D3BBDE027A5}"/>
                </a:ext>
              </a:extLst>
            </p:cNvPr>
            <p:cNvCxnSpPr>
              <a:cxnSpLocks/>
            </p:cNvCxnSpPr>
            <p:nvPr/>
          </p:nvCxnSpPr>
          <p:spPr>
            <a:xfrm>
              <a:off x="0" y="1257478"/>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A503E931-00D4-4B0C-BC69-49FE5C766518}"/>
                </a:ext>
              </a:extLst>
            </p:cNvPr>
            <p:cNvCxnSpPr>
              <a:cxnSpLocks/>
            </p:cNvCxnSpPr>
            <p:nvPr/>
          </p:nvCxnSpPr>
          <p:spPr>
            <a:xfrm>
              <a:off x="0" y="180035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7732A30-BE2F-4D71-BC37-60F7B44591B9}"/>
                </a:ext>
              </a:extLst>
            </p:cNvPr>
            <p:cNvCxnSpPr>
              <a:cxnSpLocks/>
            </p:cNvCxnSpPr>
            <p:nvPr/>
          </p:nvCxnSpPr>
          <p:spPr>
            <a:xfrm>
              <a:off x="0" y="2343240"/>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C8EB840-DE7D-4E67-989C-F4D8F50E15BD}"/>
                </a:ext>
              </a:extLst>
            </p:cNvPr>
            <p:cNvCxnSpPr>
              <a:cxnSpLocks/>
            </p:cNvCxnSpPr>
            <p:nvPr/>
          </p:nvCxnSpPr>
          <p:spPr>
            <a:xfrm>
              <a:off x="0" y="2886121"/>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05D2CC2-53CC-487E-A72E-42B1E9B18460}"/>
                </a:ext>
              </a:extLst>
            </p:cNvPr>
            <p:cNvCxnSpPr>
              <a:cxnSpLocks/>
            </p:cNvCxnSpPr>
            <p:nvPr/>
          </p:nvCxnSpPr>
          <p:spPr>
            <a:xfrm>
              <a:off x="0" y="3429002"/>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03A12D6B-1D60-4F26-8FB9-74AD5B070BDF}"/>
                </a:ext>
              </a:extLst>
            </p:cNvPr>
            <p:cNvCxnSpPr>
              <a:cxnSpLocks/>
            </p:cNvCxnSpPr>
            <p:nvPr/>
          </p:nvCxnSpPr>
          <p:spPr>
            <a:xfrm>
              <a:off x="0" y="3971883"/>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1895D00-2D63-443C-95A8-5EB6E5EECBFF}"/>
                </a:ext>
              </a:extLst>
            </p:cNvPr>
            <p:cNvCxnSpPr>
              <a:cxnSpLocks/>
            </p:cNvCxnSpPr>
            <p:nvPr/>
          </p:nvCxnSpPr>
          <p:spPr>
            <a:xfrm>
              <a:off x="0" y="4514764"/>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AC50652-2A56-4382-95D0-971644EE0FA9}"/>
                </a:ext>
              </a:extLst>
            </p:cNvPr>
            <p:cNvCxnSpPr>
              <a:cxnSpLocks/>
            </p:cNvCxnSpPr>
            <p:nvPr/>
          </p:nvCxnSpPr>
          <p:spPr>
            <a:xfrm>
              <a:off x="0" y="5057645"/>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DA50A374-8880-482D-B54F-F74E0D7BE187}"/>
                </a:ext>
              </a:extLst>
            </p:cNvPr>
            <p:cNvCxnSpPr>
              <a:cxnSpLocks/>
            </p:cNvCxnSpPr>
            <p:nvPr/>
          </p:nvCxnSpPr>
          <p:spPr>
            <a:xfrm>
              <a:off x="0" y="5600526"/>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C66364D8-CCC7-4AAF-94BC-766EC160D99E}"/>
                </a:ext>
              </a:extLst>
            </p:cNvPr>
            <p:cNvCxnSpPr>
              <a:cxnSpLocks/>
            </p:cNvCxnSpPr>
            <p:nvPr/>
          </p:nvCxnSpPr>
          <p:spPr>
            <a:xfrm>
              <a:off x="0" y="6857999"/>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A0DC409-26E2-4453-89FD-745EA849BE7F}"/>
                </a:ext>
              </a:extLst>
            </p:cNvPr>
            <p:cNvCxnSpPr>
              <a:cxnSpLocks/>
            </p:cNvCxnSpPr>
            <p:nvPr/>
          </p:nvCxnSpPr>
          <p:spPr>
            <a:xfrm>
              <a:off x="16613" y="6143407"/>
              <a:ext cx="12192000" cy="0"/>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39ED039-D66C-4A5E-AA35-E7A5FA2E64C2}"/>
                </a:ext>
              </a:extLst>
            </p:cNvPr>
            <p:cNvCxnSpPr>
              <a:cxnSpLocks/>
            </p:cNvCxnSpPr>
            <p:nvPr/>
          </p:nvCxnSpPr>
          <p:spPr>
            <a:xfrm>
              <a:off x="684225" y="171716"/>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C72C13DC-161E-49CF-96B5-5383AA052AB7}"/>
                </a:ext>
              </a:extLst>
            </p:cNvPr>
            <p:cNvCxnSpPr>
              <a:cxnSpLocks/>
            </p:cNvCxnSpPr>
            <p:nvPr/>
          </p:nvCxnSpPr>
          <p:spPr>
            <a:xfrm>
              <a:off x="11508412" y="173267"/>
              <a:ext cx="0" cy="6511464"/>
            </a:xfrm>
            <a:prstGeom prst="line">
              <a:avLst/>
            </a:prstGeom>
            <a:ln w="12700">
              <a:solidFill>
                <a:srgbClr val="BCBCBC">
                  <a:alpha val="29804"/>
                </a:srgbClr>
              </a:solidFill>
              <a:prstDash val="sysDot"/>
            </a:ln>
          </p:spPr>
          <p:style>
            <a:lnRef idx="1">
              <a:schemeClr val="accent1"/>
            </a:lnRef>
            <a:fillRef idx="0">
              <a:schemeClr val="accent1"/>
            </a:fillRef>
            <a:effectRef idx="0">
              <a:schemeClr val="accent1"/>
            </a:effectRef>
            <a:fontRef idx="minor">
              <a:schemeClr val="tx1"/>
            </a:fontRef>
          </p:style>
        </p:cxnSp>
      </p:grpSp>
      <p:sp>
        <p:nvSpPr>
          <p:cNvPr id="2" name="Title Placeholder 1">
            <a:extLst>
              <a:ext uri="{FF2B5EF4-FFF2-40B4-BE49-F238E27FC236}">
                <a16:creationId xmlns:a16="http://schemas.microsoft.com/office/drawing/2014/main" id="{05103067-48DA-458C-99F6-9921C19A802A}"/>
              </a:ext>
            </a:extLst>
          </p:cNvPr>
          <p:cNvSpPr>
            <a:spLocks noGrp="1"/>
          </p:cNvSpPr>
          <p:nvPr>
            <p:ph type="title"/>
          </p:nvPr>
        </p:nvSpPr>
        <p:spPr>
          <a:xfrm>
            <a:off x="691079" y="725951"/>
            <a:ext cx="10325000" cy="14424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CB86862-507E-4F73-890F-3B77BCFA3FA2}"/>
              </a:ext>
            </a:extLst>
          </p:cNvPr>
          <p:cNvSpPr>
            <a:spLocks noGrp="1"/>
          </p:cNvSpPr>
          <p:nvPr>
            <p:ph type="body" idx="1"/>
          </p:nvPr>
        </p:nvSpPr>
        <p:spPr>
          <a:xfrm>
            <a:off x="691079" y="2340131"/>
            <a:ext cx="10325000" cy="35644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6EFBC0BB-AF05-4753-9159-41A16FBFC3B4}"/>
              </a:ext>
            </a:extLst>
          </p:cNvPr>
          <p:cNvSpPr>
            <a:spLocks noGrp="1"/>
          </p:cNvSpPr>
          <p:nvPr>
            <p:ph type="dt" sz="half" idx="2"/>
          </p:nvPr>
        </p:nvSpPr>
        <p:spPr>
          <a:xfrm>
            <a:off x="683587" y="6215870"/>
            <a:ext cx="3843779" cy="417126"/>
          </a:xfrm>
          <a:prstGeom prst="rect">
            <a:avLst/>
          </a:prstGeom>
        </p:spPr>
        <p:txBody>
          <a:bodyPr vert="horz" lIns="91440" tIns="45720" rIns="91440" bIns="45720" rtlCol="0" anchor="ctr"/>
          <a:lstStyle>
            <a:lvl1pPr algn="l">
              <a:defRPr sz="900">
                <a:solidFill>
                  <a:schemeClr val="tx1">
                    <a:tint val="75000"/>
                  </a:schemeClr>
                </a:solidFill>
              </a:defRPr>
            </a:lvl1pPr>
          </a:lstStyle>
          <a:p>
            <a:fld id="{8F72BA41-EC5B-4197-BCC8-0FD2E523CD7A}" type="datetimeFigureOut">
              <a:rPr lang="en-US" smtClean="0"/>
              <a:pPr/>
              <a:t>2/19/2025</a:t>
            </a:fld>
            <a:endParaRPr lang="en-US" dirty="0"/>
          </a:p>
        </p:txBody>
      </p:sp>
      <p:sp>
        <p:nvSpPr>
          <p:cNvPr id="5" name="Footer Placeholder 4">
            <a:extLst>
              <a:ext uri="{FF2B5EF4-FFF2-40B4-BE49-F238E27FC236}">
                <a16:creationId xmlns:a16="http://schemas.microsoft.com/office/drawing/2014/main" id="{28362F82-EA1A-4B02-8A64-3B44C0D9DAC6}"/>
              </a:ext>
            </a:extLst>
          </p:cNvPr>
          <p:cNvSpPr>
            <a:spLocks noGrp="1"/>
          </p:cNvSpPr>
          <p:nvPr>
            <p:ph type="ftr" sz="quarter" idx="3"/>
          </p:nvPr>
        </p:nvSpPr>
        <p:spPr>
          <a:xfrm>
            <a:off x="691078" y="236364"/>
            <a:ext cx="4114800" cy="417126"/>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9C5EF32-1CA9-4CDA-8182-2FB0C30A0F6F}"/>
              </a:ext>
            </a:extLst>
          </p:cNvPr>
          <p:cNvSpPr>
            <a:spLocks noGrp="1"/>
          </p:cNvSpPr>
          <p:nvPr>
            <p:ph type="sldNum" sz="quarter" idx="4"/>
          </p:nvPr>
        </p:nvSpPr>
        <p:spPr>
          <a:xfrm>
            <a:off x="11003649" y="6215870"/>
            <a:ext cx="979151" cy="417126"/>
          </a:xfrm>
          <a:prstGeom prst="rect">
            <a:avLst/>
          </a:prstGeom>
        </p:spPr>
        <p:txBody>
          <a:bodyPr vert="horz" lIns="91440" tIns="45720" rIns="91440" bIns="45720" rtlCol="0" anchor="ctr"/>
          <a:lstStyle>
            <a:lvl1pPr algn="ctr">
              <a:defRPr sz="900">
                <a:solidFill>
                  <a:schemeClr val="tx1">
                    <a:tint val="75000"/>
                  </a:schemeClr>
                </a:solidFill>
              </a:defRPr>
            </a:lvl1pPr>
          </a:lstStyle>
          <a:p>
            <a:fld id="{BE15108C-154A-4A5A-9C05-91A49A422BA7}" type="slidenum">
              <a:rPr lang="en-US" smtClean="0"/>
              <a:pPr/>
              <a:t>‹#›</a:t>
            </a:fld>
            <a:endParaRPr lang="en-US" dirty="0"/>
          </a:p>
        </p:txBody>
      </p:sp>
      <p:sp>
        <p:nvSpPr>
          <p:cNvPr id="7" name="Right Triangle 6">
            <a:extLst>
              <a:ext uri="{FF2B5EF4-FFF2-40B4-BE49-F238E27FC236}">
                <a16:creationId xmlns:a16="http://schemas.microsoft.com/office/drawing/2014/main" id="{63BAC6E0-ADAC-40FB-AF53-88FA5F83738C}"/>
              </a:ext>
              <a:ext uri="{C183D7F6-B498-43B3-948B-1728B52AA6E4}">
                <adec:decorative xmlns:adec="http://schemas.microsoft.com/office/drawing/2017/decorative" val="1"/>
              </a:ext>
            </a:extLst>
          </p:cNvPr>
          <p:cNvSpPr/>
          <p:nvPr/>
        </p:nvSpPr>
        <p:spPr>
          <a:xfrm rot="13500000">
            <a:off x="-281094" y="1516214"/>
            <a:ext cx="568289" cy="568289"/>
          </a:xfrm>
          <a:prstGeom prst="rtTriangl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06571156"/>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43" r:id="rId6"/>
    <p:sldLayoutId id="2147483739" r:id="rId7"/>
    <p:sldLayoutId id="2147483740" r:id="rId8"/>
    <p:sldLayoutId id="2147483741" r:id="rId9"/>
    <p:sldLayoutId id="2147483742" r:id="rId10"/>
    <p:sldLayoutId id="2147483744"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tx2">
            <a:lumMod val="50000"/>
            <a:lumOff val="50000"/>
          </a:schemeClr>
        </a:buClr>
        <a:buSzPct val="75000"/>
        <a:buFont typeface="Wingdings" panose="05000000000000000000" pitchFamily="2" charset="2"/>
        <a:buChar char="§"/>
        <a:defRPr sz="2000" kern="1200">
          <a:solidFill>
            <a:schemeClr val="tx2"/>
          </a:solidFill>
          <a:latin typeface="+mn-lt"/>
          <a:ea typeface="+mn-ea"/>
          <a:cs typeface="+mn-cs"/>
        </a:defRPr>
      </a:lvl1pPr>
      <a:lvl2pPr marL="4572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800" kern="1200">
          <a:solidFill>
            <a:schemeClr val="tx2"/>
          </a:solidFill>
          <a:latin typeface="+mn-lt"/>
          <a:ea typeface="+mn-ea"/>
          <a:cs typeface="+mn-cs"/>
        </a:defRPr>
      </a:lvl2pPr>
      <a:lvl3pPr marL="6858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600" kern="1200">
          <a:solidFill>
            <a:schemeClr val="tx2"/>
          </a:solidFill>
          <a:latin typeface="+mn-lt"/>
          <a:ea typeface="+mn-ea"/>
          <a:cs typeface="+mn-cs"/>
        </a:defRPr>
      </a:lvl3pPr>
      <a:lvl4pPr marL="9144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4pPr>
      <a:lvl5pPr marL="1143000" indent="-228600" algn="l" defTabSz="914400" rtl="0" eaLnBrk="1" latinLnBrk="0" hangingPunct="1">
        <a:lnSpc>
          <a:spcPct val="110000"/>
        </a:lnSpc>
        <a:spcBef>
          <a:spcPts val="500"/>
        </a:spcBef>
        <a:buClr>
          <a:schemeClr val="tx2">
            <a:lumMod val="50000"/>
            <a:lumOff val="50000"/>
          </a:schemeClr>
        </a:buClr>
        <a:buSzPct val="75000"/>
        <a:buFont typeface="Wingdings" panose="05000000000000000000" pitchFamily="2" charset="2"/>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UI and Unit Tests</a:t>
            </a:r>
          </a:p>
        </p:txBody>
      </p:sp>
      <p:sp>
        <p:nvSpPr>
          <p:cNvPr id="6" name="TextBox 5">
            <a:extLst>
              <a:ext uri="{FF2B5EF4-FFF2-40B4-BE49-F238E27FC236}">
                <a16:creationId xmlns:a16="http://schemas.microsoft.com/office/drawing/2014/main" id="{5D7D9EEA-B910-BFA6-E21F-860EB2E4059B}"/>
              </a:ext>
            </a:extLst>
          </p:cNvPr>
          <p:cNvSpPr txBox="1"/>
          <p:nvPr/>
        </p:nvSpPr>
        <p:spPr>
          <a:xfrm>
            <a:off x="659817" y="1330092"/>
            <a:ext cx="6111630" cy="923330"/>
          </a:xfrm>
          <a:prstGeom prst="rect">
            <a:avLst/>
          </a:prstGeom>
          <a:noFill/>
        </p:spPr>
        <p:txBody>
          <a:bodyPr wrap="square">
            <a:spAutoFit/>
          </a:bodyPr>
          <a:lstStyle/>
          <a:p>
            <a:pPr algn="l"/>
            <a:r>
              <a:rPr lang="en-US" sz="1800" b="0" i="0" u="none" strike="noStrike" baseline="0" dirty="0">
                <a:latin typeface="MinionPro-Regular"/>
              </a:rPr>
              <a:t>• Exploring the fundamentals of testing</a:t>
            </a:r>
          </a:p>
          <a:p>
            <a:pPr algn="l"/>
            <a:r>
              <a:rPr lang="en-US" sz="1800" b="0" i="0" u="none" strike="noStrike" baseline="0" dirty="0">
                <a:latin typeface="MinionPro-Regular"/>
              </a:rPr>
              <a:t>• Learning the basics of testing your Compose UI</a:t>
            </a:r>
          </a:p>
          <a:p>
            <a:pPr algn="l"/>
            <a:r>
              <a:rPr lang="en-US" sz="1800" b="0" i="0" u="none" strike="noStrike" baseline="0" dirty="0">
                <a:latin typeface="MinionPro-Regular"/>
              </a:rPr>
              <a:t>• Covering the basics of unit-testing your core logic</a:t>
            </a:r>
            <a:endParaRPr lang="en-US" dirty="0"/>
          </a:p>
        </p:txBody>
      </p:sp>
      <p:sp>
        <p:nvSpPr>
          <p:cNvPr id="9" name="TextBox 8">
            <a:extLst>
              <a:ext uri="{FF2B5EF4-FFF2-40B4-BE49-F238E27FC236}">
                <a16:creationId xmlns:a16="http://schemas.microsoft.com/office/drawing/2014/main" id="{11E6097A-B16D-024F-C04A-D3A0E8DDA0A1}"/>
              </a:ext>
            </a:extLst>
          </p:cNvPr>
          <p:cNvSpPr txBox="1"/>
          <p:nvPr/>
        </p:nvSpPr>
        <p:spPr>
          <a:xfrm>
            <a:off x="659817" y="2403976"/>
            <a:ext cx="10508368" cy="4401205"/>
          </a:xfrm>
          <a:prstGeom prst="rect">
            <a:avLst/>
          </a:prstGeom>
          <a:noFill/>
        </p:spPr>
        <p:txBody>
          <a:bodyPr wrap="square">
            <a:spAutoFit/>
          </a:bodyPr>
          <a:lstStyle/>
          <a:p>
            <a:pPr algn="l"/>
            <a:r>
              <a:rPr lang="en-US" sz="2800" b="0" i="0" u="none" strike="noStrike" baseline="0" dirty="0">
                <a:latin typeface="OpenSans-Semibold"/>
              </a:rPr>
              <a:t>Exploring types of tests</a:t>
            </a:r>
          </a:p>
          <a:p>
            <a:pPr algn="l"/>
            <a:r>
              <a:rPr lang="en-US" sz="1800" b="0" i="0" u="none" strike="noStrike" baseline="0" dirty="0">
                <a:latin typeface="MinionPro-Regular"/>
              </a:rPr>
              <a:t>To better understand how to write tests, we must first decide </a:t>
            </a:r>
            <a:r>
              <a:rPr lang="en-US" sz="1800" b="1" i="1" u="sng" strike="noStrike" baseline="0" dirty="0">
                <a:latin typeface="MinionPro-It"/>
              </a:rPr>
              <a:t>what exactly can be tested </a:t>
            </a:r>
            <a:r>
              <a:rPr lang="en-US" sz="1800" b="0" i="0" u="none" strike="noStrike" baseline="0" dirty="0">
                <a:latin typeface="MinionPro-Regular"/>
              </a:rPr>
              <a:t>in our apps. From this perspective, let's cover the most important types of tests:</a:t>
            </a:r>
          </a:p>
          <a:p>
            <a:pPr algn="l"/>
            <a:endParaRPr lang="en-US" sz="1800" b="0" i="0" u="none" strike="noStrike" baseline="0" dirty="0">
              <a:latin typeface="MinionPro-Regular"/>
            </a:endParaRPr>
          </a:p>
          <a:p>
            <a:pPr algn="l"/>
            <a:r>
              <a:rPr lang="en-US" sz="1800" b="0" i="0" u="none" strike="noStrike" baseline="0" dirty="0">
                <a:latin typeface="MinionPro-Regular"/>
              </a:rPr>
              <a:t>• </a:t>
            </a:r>
            <a:r>
              <a:rPr lang="en-US" sz="1800" b="1" i="0" u="none" strike="noStrike" baseline="0" dirty="0">
                <a:latin typeface="MinionPro-Bold"/>
              </a:rPr>
              <a:t>Functional tests</a:t>
            </a:r>
            <a:r>
              <a:rPr lang="en-US" sz="1800" b="0" i="0" u="none" strike="noStrike" baseline="0" dirty="0">
                <a:latin typeface="MinionPro-Regular"/>
              </a:rPr>
              <a:t>: Is the app doing what is expected? We already touched upon functional tests and their benefits in the </a:t>
            </a:r>
            <a:r>
              <a:rPr lang="en-US" sz="1800" b="0" i="1" u="none" strike="noStrike" baseline="0" dirty="0">
                <a:latin typeface="MinionPro-It"/>
              </a:rPr>
              <a:t>Understanding the benefits of testing </a:t>
            </a:r>
            <a:r>
              <a:rPr lang="en-US" sz="1800" b="0" i="0" u="none" strike="noStrike" baseline="0" dirty="0">
                <a:latin typeface="MinionPro-Regular"/>
              </a:rPr>
              <a:t>section.</a:t>
            </a:r>
          </a:p>
          <a:p>
            <a:pPr algn="l"/>
            <a:endParaRPr lang="en-US" sz="1800" b="0" i="0" u="none" strike="noStrike" baseline="0" dirty="0">
              <a:latin typeface="MinionPro-Regular"/>
            </a:endParaRPr>
          </a:p>
          <a:p>
            <a:pPr algn="l"/>
            <a:r>
              <a:rPr lang="en-US" sz="1800" b="0" i="0" u="none" strike="noStrike" baseline="0" dirty="0">
                <a:latin typeface="MinionPro-Regular"/>
              </a:rPr>
              <a:t>• </a:t>
            </a:r>
            <a:r>
              <a:rPr lang="en-US" sz="1800" b="1" i="0" u="none" strike="noStrike" baseline="0" dirty="0">
                <a:latin typeface="MinionPro-Bold"/>
              </a:rPr>
              <a:t>Compatibility tests</a:t>
            </a:r>
            <a:r>
              <a:rPr lang="en-US" sz="1800" b="0" i="0" u="none" strike="noStrike" baseline="0" dirty="0">
                <a:latin typeface="MinionPro-Regular"/>
              </a:rPr>
              <a:t>: Is the app working correctly on all devices and Android API levels? The Android ecosystem makes this particularly difficult if you consider the variety of devices and manufacturers.</a:t>
            </a:r>
          </a:p>
          <a:p>
            <a:pPr algn="l"/>
            <a:endParaRPr lang="en-US" sz="1800" b="0" i="0" u="none" strike="noStrike" baseline="0" dirty="0">
              <a:latin typeface="MinionPro-Regular"/>
            </a:endParaRPr>
          </a:p>
          <a:p>
            <a:pPr algn="l"/>
            <a:r>
              <a:rPr lang="en-US" sz="1800" b="0" i="0" u="none" strike="noStrike" baseline="0" dirty="0">
                <a:latin typeface="MinionPro-Regular"/>
              </a:rPr>
              <a:t>• </a:t>
            </a:r>
            <a:r>
              <a:rPr lang="en-US" sz="1800" b="1" i="0" u="none" strike="noStrike" baseline="0" dirty="0">
                <a:latin typeface="MinionPro-Bold"/>
              </a:rPr>
              <a:t>Performance tests</a:t>
            </a:r>
            <a:r>
              <a:rPr lang="en-US" sz="1800" b="0" i="0" u="none" strike="noStrike" baseline="0" dirty="0">
                <a:latin typeface="MinionPro-Regular"/>
              </a:rPr>
              <a:t>: Is the app fast or efficient enough? Sometimes, apps can suffer from bottlenecks and UI stutters that can be identified via performance benchmarks.</a:t>
            </a:r>
          </a:p>
          <a:p>
            <a:pPr algn="l"/>
            <a:endParaRPr lang="en-US" sz="1800" b="0" i="0" u="none" strike="noStrike" baseline="0" dirty="0">
              <a:latin typeface="MinionPro-Regular"/>
            </a:endParaRPr>
          </a:p>
          <a:p>
            <a:pPr algn="l"/>
            <a:r>
              <a:rPr lang="en-US" sz="1800" b="0" i="0" u="none" strike="noStrike" baseline="0" dirty="0">
                <a:latin typeface="MinionPro-Regular"/>
              </a:rPr>
              <a:t>• </a:t>
            </a:r>
            <a:r>
              <a:rPr lang="en-US" sz="1800" b="1" i="0" u="none" strike="noStrike" baseline="0" dirty="0">
                <a:latin typeface="MinionPro-Bold"/>
              </a:rPr>
              <a:t>Accessibility tests</a:t>
            </a:r>
            <a:r>
              <a:rPr lang="en-US" sz="1800" b="0" i="0" u="none" strike="noStrike" baseline="0" dirty="0">
                <a:latin typeface="MinionPro-Regular"/>
              </a:rPr>
              <a:t>: Is the app working well with accessibility services? Such services are used to assist users with disabilities in using our Android application.</a:t>
            </a:r>
            <a:endParaRPr lang="en-US" dirty="0"/>
          </a:p>
        </p:txBody>
      </p:sp>
    </p:spTree>
    <p:extLst>
      <p:ext uri="{BB962C8B-B14F-4D97-AF65-F5344CB8AC3E}">
        <p14:creationId xmlns:p14="http://schemas.microsoft.com/office/powerpoint/2010/main" val="806012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UI and Unit Tests</a:t>
            </a:r>
          </a:p>
        </p:txBody>
      </p:sp>
      <p:sp>
        <p:nvSpPr>
          <p:cNvPr id="4" name="TextBox 3">
            <a:extLst>
              <a:ext uri="{FF2B5EF4-FFF2-40B4-BE49-F238E27FC236}">
                <a16:creationId xmlns:a16="http://schemas.microsoft.com/office/drawing/2014/main" id="{830472F5-EB4F-A229-4890-1AA574DBA583}"/>
              </a:ext>
            </a:extLst>
          </p:cNvPr>
          <p:cNvSpPr txBox="1"/>
          <p:nvPr/>
        </p:nvSpPr>
        <p:spPr>
          <a:xfrm>
            <a:off x="659817" y="1194867"/>
            <a:ext cx="10250460" cy="3970318"/>
          </a:xfrm>
          <a:prstGeom prst="rect">
            <a:avLst/>
          </a:prstGeom>
          <a:noFill/>
        </p:spPr>
        <p:txBody>
          <a:bodyPr wrap="square">
            <a:spAutoFit/>
          </a:bodyPr>
          <a:lstStyle/>
          <a:p>
            <a:pPr algn="l"/>
            <a:r>
              <a:rPr lang="en-US" sz="1800" b="0" i="0" u="none" strike="noStrike" baseline="0" dirty="0">
                <a:latin typeface="MinionPro-Regular"/>
              </a:rPr>
              <a:t>Now, apart from deciding what has to be tested, we must also think about the </a:t>
            </a:r>
            <a:r>
              <a:rPr lang="en-US" sz="1800" b="1" i="1" u="sng" strike="noStrike" baseline="0" dirty="0">
                <a:latin typeface="MinionPro-It"/>
              </a:rPr>
              <a:t>scope or size of the tests</a:t>
            </a:r>
            <a:r>
              <a:rPr lang="en-US" sz="1800" b="0" i="0" u="none" strike="noStrike" baseline="0" dirty="0">
                <a:latin typeface="MinionPro-Regular"/>
              </a:rPr>
              <a:t>. </a:t>
            </a:r>
          </a:p>
          <a:p>
            <a:pPr algn="l"/>
            <a:r>
              <a:rPr lang="en-US" sz="1800" b="0" i="0" u="none" strike="noStrike" baseline="0" dirty="0">
                <a:latin typeface="MinionPro-Regular"/>
              </a:rPr>
              <a:t>The scope indicates the size of the app's portion we're testing. From the perspective of the scope of the tests, we have the following:</a:t>
            </a:r>
          </a:p>
          <a:p>
            <a:pPr algn="l"/>
            <a:endParaRPr lang="en-US" sz="1800" b="0" i="0" u="none" strike="noStrike" baseline="0" dirty="0">
              <a:latin typeface="MinionPro-Regular"/>
            </a:endParaRPr>
          </a:p>
          <a:p>
            <a:pPr algn="l"/>
            <a:r>
              <a:rPr lang="en-US" sz="1800" b="0" i="0" u="none" strike="noStrike" baseline="0" dirty="0">
                <a:latin typeface="MinionPro-Regular"/>
              </a:rPr>
              <a:t>• </a:t>
            </a:r>
            <a:r>
              <a:rPr lang="en-US" sz="1800" b="1" i="0" u="none" strike="noStrike" baseline="0" dirty="0">
                <a:latin typeface="MinionPro-Bold"/>
              </a:rPr>
              <a:t>Unit tests</a:t>
            </a:r>
            <a:r>
              <a:rPr lang="en-US" sz="1800" b="0" i="0" u="none" strike="noStrike" baseline="0" dirty="0">
                <a:latin typeface="MinionPro-Regular"/>
              </a:rPr>
              <a:t>: Often referred to as small tests, these test the functional behavior of methods, classes, or groups of classes in an isolated environment. Usually, unit tests target small portions of the app without interacting with the real-world environment; hence, they are more reliable than tests that depend on external input.</a:t>
            </a:r>
          </a:p>
          <a:p>
            <a:pPr algn="l"/>
            <a:endParaRPr lang="en-US" sz="1800" b="0" i="0" u="none" strike="noStrike" baseline="0" dirty="0">
              <a:latin typeface="MinionPro-Regular"/>
            </a:endParaRPr>
          </a:p>
          <a:p>
            <a:pPr algn="l"/>
            <a:r>
              <a:rPr lang="en-US" sz="1800" b="0" i="0" u="none" strike="noStrike" baseline="0" dirty="0">
                <a:latin typeface="MinionPro-Regular"/>
              </a:rPr>
              <a:t>• </a:t>
            </a:r>
            <a:r>
              <a:rPr lang="en-US" sz="1800" b="1" i="0" u="none" strike="noStrike" baseline="0" dirty="0">
                <a:latin typeface="MinionPro-Bold"/>
              </a:rPr>
              <a:t>Integration tests</a:t>
            </a:r>
            <a:r>
              <a:rPr lang="en-US" sz="1800" b="0" i="0" u="none" strike="noStrike" baseline="0" dirty="0">
                <a:latin typeface="MinionPro-Regular"/>
              </a:rPr>
              <a:t>: Often referred to as medium tests, these test whether multiple units interact and function correctly together.</a:t>
            </a:r>
          </a:p>
          <a:p>
            <a:pPr algn="l"/>
            <a:endParaRPr lang="en-US" sz="1800" b="0" i="0" u="none" strike="noStrike" baseline="0" dirty="0">
              <a:latin typeface="MinionPro-Regular"/>
            </a:endParaRPr>
          </a:p>
          <a:p>
            <a:pPr algn="l"/>
            <a:r>
              <a:rPr lang="en-US" sz="1800" b="0" i="0" u="none" strike="noStrike" baseline="0" dirty="0">
                <a:latin typeface="MinionPro-Regular"/>
              </a:rPr>
              <a:t>• </a:t>
            </a:r>
            <a:r>
              <a:rPr lang="en-US" sz="1800" b="1" i="0" u="none" strike="noStrike" baseline="0" dirty="0">
                <a:latin typeface="MinionPro-Bold"/>
              </a:rPr>
              <a:t>End-to-end tests</a:t>
            </a:r>
            <a:r>
              <a:rPr lang="en-US" sz="1800" b="0" i="0" u="none" strike="noStrike" baseline="0" dirty="0">
                <a:latin typeface="MinionPro-Regular"/>
              </a:rPr>
              <a:t>: Often referred to as big tests, these test large portions of the application, from multiple screens to entire user flows.</a:t>
            </a:r>
            <a:endParaRPr lang="en-US" dirty="0"/>
          </a:p>
        </p:txBody>
      </p:sp>
      <p:sp>
        <p:nvSpPr>
          <p:cNvPr id="7" name="TextBox 6">
            <a:extLst>
              <a:ext uri="{FF2B5EF4-FFF2-40B4-BE49-F238E27FC236}">
                <a16:creationId xmlns:a16="http://schemas.microsoft.com/office/drawing/2014/main" id="{7FF164C2-1603-8EDA-5C91-940B6C6EC386}"/>
              </a:ext>
            </a:extLst>
          </p:cNvPr>
          <p:cNvSpPr txBox="1"/>
          <p:nvPr/>
        </p:nvSpPr>
        <p:spPr>
          <a:xfrm>
            <a:off x="659817" y="5358894"/>
            <a:ext cx="10453660" cy="923330"/>
          </a:xfrm>
          <a:prstGeom prst="rect">
            <a:avLst/>
          </a:prstGeom>
          <a:noFill/>
        </p:spPr>
        <p:txBody>
          <a:bodyPr wrap="square">
            <a:spAutoFit/>
          </a:bodyPr>
          <a:lstStyle/>
          <a:p>
            <a:pPr algn="l"/>
            <a:r>
              <a:rPr lang="en-US" sz="1800" b="0" i="0" u="none" strike="noStrike" baseline="0" dirty="0">
                <a:latin typeface="MinionPro-Regular"/>
              </a:rPr>
              <a:t>Depending on the size of the tests, each type has a degree of isolation. The </a:t>
            </a:r>
            <a:r>
              <a:rPr lang="en-US" sz="1800" b="1" i="0" u="none" strike="noStrike" baseline="0" dirty="0">
                <a:latin typeface="MinionPro-Bold"/>
              </a:rPr>
              <a:t>degree of isolation </a:t>
            </a:r>
            <a:r>
              <a:rPr lang="en-US" sz="1800" b="0" i="0" u="none" strike="noStrike" baseline="0" dirty="0">
                <a:latin typeface="MinionPro-Regular"/>
              </a:rPr>
              <a:t>is tightly related to the scope of the tests, as it measures how dependent the component we're testing is on other components. As the size of the test increases, from small to big, the isolation level of the tests decreases.</a:t>
            </a:r>
            <a:endParaRPr lang="en-US" dirty="0"/>
          </a:p>
        </p:txBody>
      </p:sp>
    </p:spTree>
    <p:extLst>
      <p:ext uri="{BB962C8B-B14F-4D97-AF65-F5344CB8AC3E}">
        <p14:creationId xmlns:p14="http://schemas.microsoft.com/office/powerpoint/2010/main" val="513344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UI and Unit Tests</a:t>
            </a:r>
          </a:p>
        </p:txBody>
      </p:sp>
      <p:sp>
        <p:nvSpPr>
          <p:cNvPr id="5" name="TextBox 4">
            <a:extLst>
              <a:ext uri="{FF2B5EF4-FFF2-40B4-BE49-F238E27FC236}">
                <a16:creationId xmlns:a16="http://schemas.microsoft.com/office/drawing/2014/main" id="{DF3590BD-5D9E-E581-A8FB-BAB3EAD0523F}"/>
              </a:ext>
            </a:extLst>
          </p:cNvPr>
          <p:cNvSpPr txBox="1"/>
          <p:nvPr/>
        </p:nvSpPr>
        <p:spPr>
          <a:xfrm>
            <a:off x="659817" y="1500725"/>
            <a:ext cx="10320798" cy="2585323"/>
          </a:xfrm>
          <a:prstGeom prst="rect">
            <a:avLst/>
          </a:prstGeom>
          <a:noFill/>
        </p:spPr>
        <p:txBody>
          <a:bodyPr wrap="square">
            <a:spAutoFit/>
          </a:bodyPr>
          <a:lstStyle/>
          <a:p>
            <a:pPr algn="l"/>
            <a:r>
              <a:rPr lang="en-US" sz="1800" b="0" i="0" u="none" strike="noStrike" baseline="0" dirty="0">
                <a:latin typeface="MinionPro-Regular"/>
              </a:rPr>
              <a:t>Lastly, we must also classify tests based on the system they will be running on:</a:t>
            </a:r>
          </a:p>
          <a:p>
            <a:pPr algn="l"/>
            <a:endParaRPr lang="en-US" sz="1800" b="0" i="0" u="none" strike="noStrike" baseline="0" dirty="0">
              <a:latin typeface="MinionPro-Regular"/>
            </a:endParaRPr>
          </a:p>
          <a:p>
            <a:pPr algn="l"/>
            <a:r>
              <a:rPr lang="en-US" sz="1800" b="0" i="0" u="none" strike="noStrike" baseline="0" dirty="0">
                <a:latin typeface="MinionPro-Regular"/>
              </a:rPr>
              <a:t>• </a:t>
            </a:r>
            <a:r>
              <a:rPr lang="en-US" sz="1800" b="1" i="0" u="none" strike="noStrike" baseline="0" dirty="0">
                <a:latin typeface="MinionPro-Bold"/>
              </a:rPr>
              <a:t>Local tests</a:t>
            </a:r>
            <a:r>
              <a:rPr lang="en-US" sz="1800" b="0" i="0" u="none" strike="noStrike" baseline="0" dirty="0">
                <a:latin typeface="MinionPro-Regular"/>
              </a:rPr>
              <a:t>: Run on your workstation or development system (used in practices such as </a:t>
            </a:r>
            <a:r>
              <a:rPr lang="en-US" sz="1800" b="1" i="0" u="none" strike="noStrike" baseline="0" dirty="0">
                <a:latin typeface="MinionPro-Bold"/>
              </a:rPr>
              <a:t>Continuous Integration </a:t>
            </a:r>
            <a:r>
              <a:rPr lang="en-US" sz="1800" b="0" i="0" u="none" strike="noStrike" baseline="0" dirty="0">
                <a:latin typeface="MinionPro-Regular"/>
              </a:rPr>
              <a:t>(</a:t>
            </a:r>
            <a:r>
              <a:rPr lang="en-US" sz="1800" b="1" i="0" u="none" strike="noStrike" baseline="0" dirty="0">
                <a:latin typeface="MinionPro-Bold"/>
              </a:rPr>
              <a:t>CI</a:t>
            </a:r>
            <a:r>
              <a:rPr lang="en-US" sz="1800" b="0" i="0" u="none" strike="noStrike" baseline="0" dirty="0">
                <a:latin typeface="MinionPro-Regular"/>
              </a:rPr>
              <a:t>)) without the need of an Android device or emulator. They are usually small and fast, isolating the component under test from the rest of the application. Most of the time, </a:t>
            </a:r>
            <a:r>
              <a:rPr lang="en-US" sz="1800" b="1" i="0" u="none" strike="noStrike" baseline="0" dirty="0">
                <a:latin typeface="MinionPro-Regular"/>
              </a:rPr>
              <a:t>unit tests are local tests</a:t>
            </a:r>
            <a:r>
              <a:rPr lang="en-US" sz="1800" b="0" i="0" u="none" strike="noStrike" baseline="0" dirty="0">
                <a:latin typeface="MinionPro-Regular"/>
              </a:rPr>
              <a:t>.</a:t>
            </a:r>
          </a:p>
          <a:p>
            <a:pPr algn="l"/>
            <a:endParaRPr lang="en-US" sz="1800" b="0" i="0" u="none" strike="noStrike" baseline="0" dirty="0">
              <a:latin typeface="MinionPro-Regular"/>
            </a:endParaRPr>
          </a:p>
          <a:p>
            <a:pPr algn="l"/>
            <a:r>
              <a:rPr lang="en-US" sz="1800" b="0" i="0" u="none" strike="noStrike" baseline="0" dirty="0">
                <a:latin typeface="MinionPro-Regular"/>
              </a:rPr>
              <a:t>• </a:t>
            </a:r>
            <a:r>
              <a:rPr lang="en-US" sz="1800" b="1" i="0" u="none" strike="noStrike" baseline="0" dirty="0">
                <a:latin typeface="MinionPro-Bold"/>
              </a:rPr>
              <a:t>Instrumented tests</a:t>
            </a:r>
            <a:r>
              <a:rPr lang="en-US" sz="1800" b="0" i="0" u="none" strike="noStrike" baseline="0" dirty="0">
                <a:latin typeface="MinionPro-Regular"/>
              </a:rPr>
              <a:t>: Run on an Android device, be it a physical device or emulator. Most of the time, UI tests are considered instrumented tests, since they allow the automated testing of an application on an Android device.</a:t>
            </a:r>
            <a:endParaRPr lang="en-US" dirty="0"/>
          </a:p>
        </p:txBody>
      </p:sp>
    </p:spTree>
    <p:extLst>
      <p:ext uri="{BB962C8B-B14F-4D97-AF65-F5344CB8AC3E}">
        <p14:creationId xmlns:p14="http://schemas.microsoft.com/office/powerpoint/2010/main" val="19650506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sp>
        <p:nvSpPr>
          <p:cNvPr id="4" name="TextBox 3">
            <a:extLst>
              <a:ext uri="{FF2B5EF4-FFF2-40B4-BE49-F238E27FC236}">
                <a16:creationId xmlns:a16="http://schemas.microsoft.com/office/drawing/2014/main" id="{063222C6-7F18-C168-89BB-DD5305E599DD}"/>
              </a:ext>
            </a:extLst>
          </p:cNvPr>
          <p:cNvSpPr txBox="1"/>
          <p:nvPr/>
        </p:nvSpPr>
        <p:spPr>
          <a:xfrm>
            <a:off x="659817" y="1324149"/>
            <a:ext cx="9945660" cy="646331"/>
          </a:xfrm>
          <a:prstGeom prst="rect">
            <a:avLst/>
          </a:prstGeom>
          <a:noFill/>
        </p:spPr>
        <p:txBody>
          <a:bodyPr wrap="square">
            <a:spAutoFit/>
          </a:bodyPr>
          <a:lstStyle/>
          <a:p>
            <a:pPr algn="l"/>
            <a:r>
              <a:rPr lang="en-US" dirty="0">
                <a:latin typeface="MinionPro-Regular"/>
              </a:rPr>
              <a:t>W</a:t>
            </a:r>
            <a:r>
              <a:rPr lang="en-US" sz="1800" b="0" i="0" u="none" strike="noStrike" baseline="0" dirty="0">
                <a:latin typeface="MinionPro-Regular"/>
              </a:rPr>
              <a:t>e need to test the first screen of our application, represented by the </a:t>
            </a:r>
            <a:r>
              <a:rPr lang="en-US" b="1" i="0" u="none" strike="noStrike" baseline="0" dirty="0" err="1">
                <a:latin typeface="CourierStd"/>
              </a:rPr>
              <a:t>RestaurantsScreen</a:t>
            </a:r>
            <a:r>
              <a:rPr lang="en-US" sz="1400" b="1" i="0" u="none" strike="noStrike" baseline="0" dirty="0">
                <a:latin typeface="CourierStd"/>
              </a:rPr>
              <a:t>()</a:t>
            </a:r>
            <a:r>
              <a:rPr lang="en-US" sz="1400" b="0" i="0" u="none" strike="noStrike" baseline="0" dirty="0">
                <a:latin typeface="CourierStd"/>
              </a:rPr>
              <a:t> </a:t>
            </a:r>
            <a:r>
              <a:rPr lang="en-US" sz="1800" b="0" i="0" u="none" strike="noStrike" baseline="0" dirty="0">
                <a:latin typeface="MinionPro-Regular"/>
              </a:rPr>
              <a:t>composable. Let's begin!</a:t>
            </a:r>
            <a:endParaRPr lang="en-US" dirty="0"/>
          </a:p>
        </p:txBody>
      </p:sp>
      <p:pic>
        <p:nvPicPr>
          <p:cNvPr id="7" name="Рисунок 6">
            <a:extLst>
              <a:ext uri="{FF2B5EF4-FFF2-40B4-BE49-F238E27FC236}">
                <a16:creationId xmlns:a16="http://schemas.microsoft.com/office/drawing/2014/main" id="{01203C3E-4B84-FC2B-CBB6-73980743EBE4}"/>
              </a:ext>
            </a:extLst>
          </p:cNvPr>
          <p:cNvPicPr>
            <a:picLocks noChangeAspect="1"/>
          </p:cNvPicPr>
          <p:nvPr/>
        </p:nvPicPr>
        <p:blipFill>
          <a:blip r:embed="rId2"/>
          <a:stretch>
            <a:fillRect/>
          </a:stretch>
        </p:blipFill>
        <p:spPr>
          <a:xfrm>
            <a:off x="2627335" y="2033004"/>
            <a:ext cx="6937330" cy="1948322"/>
          </a:xfrm>
          <a:prstGeom prst="rect">
            <a:avLst/>
          </a:prstGeom>
        </p:spPr>
      </p:pic>
      <p:sp>
        <p:nvSpPr>
          <p:cNvPr id="9" name="TextBox 8">
            <a:extLst>
              <a:ext uri="{FF2B5EF4-FFF2-40B4-BE49-F238E27FC236}">
                <a16:creationId xmlns:a16="http://schemas.microsoft.com/office/drawing/2014/main" id="{9192B41C-5238-6AF7-C876-B7A173374E4B}"/>
              </a:ext>
            </a:extLst>
          </p:cNvPr>
          <p:cNvSpPr txBox="1"/>
          <p:nvPr/>
        </p:nvSpPr>
        <p:spPr>
          <a:xfrm>
            <a:off x="659817" y="4043850"/>
            <a:ext cx="10094152" cy="369332"/>
          </a:xfrm>
          <a:prstGeom prst="rect">
            <a:avLst/>
          </a:prstGeom>
          <a:noFill/>
        </p:spPr>
        <p:txBody>
          <a:bodyPr wrap="square">
            <a:spAutoFit/>
          </a:bodyPr>
          <a:lstStyle/>
          <a:p>
            <a:pPr algn="l"/>
            <a:r>
              <a:rPr lang="en-US" sz="1800" b="0" i="0" u="none" strike="noStrike" baseline="0" dirty="0">
                <a:latin typeface="MinionPro-Regular"/>
              </a:rPr>
              <a:t>Before creating a test class, locate the </a:t>
            </a:r>
            <a:r>
              <a:rPr lang="en-US" b="1" i="0" u="none" strike="noStrike" baseline="0" dirty="0" err="1">
                <a:latin typeface="CourierStd"/>
              </a:rPr>
              <a:t>androidTest</a:t>
            </a:r>
            <a:r>
              <a:rPr lang="en-US" sz="1400" b="0" i="0" u="none" strike="noStrike" baseline="0" dirty="0">
                <a:latin typeface="CourierStd"/>
              </a:rPr>
              <a:t> </a:t>
            </a:r>
            <a:r>
              <a:rPr lang="en-US" sz="1800" b="0" i="0" u="none" strike="noStrike" baseline="0" dirty="0">
                <a:latin typeface="MinionPro-Regular"/>
              </a:rPr>
              <a:t>package that is suited for instrumented tests:</a:t>
            </a:r>
            <a:endParaRPr lang="en-US" dirty="0"/>
          </a:p>
        </p:txBody>
      </p:sp>
      <p:pic>
        <p:nvPicPr>
          <p:cNvPr id="11" name="Рисунок 10">
            <a:extLst>
              <a:ext uri="{FF2B5EF4-FFF2-40B4-BE49-F238E27FC236}">
                <a16:creationId xmlns:a16="http://schemas.microsoft.com/office/drawing/2014/main" id="{ED2EAC37-2DBF-E2AE-7969-9AA3FF27BBE9}"/>
              </a:ext>
            </a:extLst>
          </p:cNvPr>
          <p:cNvPicPr>
            <a:picLocks noChangeAspect="1"/>
          </p:cNvPicPr>
          <p:nvPr/>
        </p:nvPicPr>
        <p:blipFill>
          <a:blip r:embed="rId3"/>
          <a:stretch>
            <a:fillRect/>
          </a:stretch>
        </p:blipFill>
        <p:spPr>
          <a:xfrm>
            <a:off x="3948706" y="4413182"/>
            <a:ext cx="4294587" cy="2271928"/>
          </a:xfrm>
          <a:prstGeom prst="rect">
            <a:avLst/>
          </a:prstGeom>
        </p:spPr>
      </p:pic>
    </p:spTree>
    <p:extLst>
      <p:ext uri="{BB962C8B-B14F-4D97-AF65-F5344CB8AC3E}">
        <p14:creationId xmlns:p14="http://schemas.microsoft.com/office/powerpoint/2010/main" val="2351514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sp>
        <p:nvSpPr>
          <p:cNvPr id="5" name="TextBox 4">
            <a:extLst>
              <a:ext uri="{FF2B5EF4-FFF2-40B4-BE49-F238E27FC236}">
                <a16:creationId xmlns:a16="http://schemas.microsoft.com/office/drawing/2014/main" id="{16142093-1805-D9DA-75E7-5EE70845DC1E}"/>
              </a:ext>
            </a:extLst>
          </p:cNvPr>
          <p:cNvSpPr txBox="1"/>
          <p:nvPr/>
        </p:nvSpPr>
        <p:spPr>
          <a:xfrm>
            <a:off x="659816" y="1316334"/>
            <a:ext cx="10344245" cy="369332"/>
          </a:xfrm>
          <a:prstGeom prst="rect">
            <a:avLst/>
          </a:prstGeom>
          <a:noFill/>
        </p:spPr>
        <p:txBody>
          <a:bodyPr wrap="square">
            <a:spAutoFit/>
          </a:bodyPr>
          <a:lstStyle/>
          <a:p>
            <a:pPr algn="l"/>
            <a:r>
              <a:rPr lang="en-US" sz="1800" b="0" i="0" u="none" strike="noStrike" baseline="0" dirty="0">
                <a:latin typeface="MinionPro-Regular"/>
              </a:rPr>
              <a:t>Create an empty Kotlin class named </a:t>
            </a:r>
            <a:r>
              <a:rPr lang="en-US" b="1" i="0" u="none" strike="noStrike" baseline="0" dirty="0" err="1">
                <a:latin typeface="CourierStd"/>
              </a:rPr>
              <a:t>RestaurantsScreenTest</a:t>
            </a:r>
            <a:r>
              <a:rPr lang="en-US" sz="1400" b="0" i="0" u="none" strike="noStrike" baseline="0" dirty="0">
                <a:latin typeface="CourierStd"/>
              </a:rPr>
              <a:t> </a:t>
            </a:r>
            <a:r>
              <a:rPr lang="en-US" sz="1800" b="0" i="0" u="none" strike="noStrike" baseline="0" dirty="0">
                <a:latin typeface="MinionPro-Regular"/>
              </a:rPr>
              <a:t>inside the </a:t>
            </a:r>
            <a:r>
              <a:rPr lang="en-US" b="1" i="0" u="none" strike="noStrike" baseline="0" dirty="0" err="1">
                <a:latin typeface="CourierStd"/>
              </a:rPr>
              <a:t>androidTest</a:t>
            </a:r>
            <a:r>
              <a:rPr lang="en-US" sz="1400" b="0" i="0" u="none" strike="noStrike" baseline="0" dirty="0">
                <a:latin typeface="CourierStd"/>
              </a:rPr>
              <a:t> </a:t>
            </a:r>
            <a:r>
              <a:rPr lang="en-US" sz="1800" b="0" i="0" u="none" strike="noStrike" baseline="0" dirty="0">
                <a:latin typeface="MinionPro-Regular"/>
              </a:rPr>
              <a:t>package.</a:t>
            </a:r>
            <a:endParaRPr lang="en-US" dirty="0"/>
          </a:p>
        </p:txBody>
      </p:sp>
      <p:pic>
        <p:nvPicPr>
          <p:cNvPr id="8" name="Рисунок 7">
            <a:extLst>
              <a:ext uri="{FF2B5EF4-FFF2-40B4-BE49-F238E27FC236}">
                <a16:creationId xmlns:a16="http://schemas.microsoft.com/office/drawing/2014/main" id="{19931628-702F-AED6-583A-F5E3848D8FDB}"/>
              </a:ext>
            </a:extLst>
          </p:cNvPr>
          <p:cNvPicPr>
            <a:picLocks noChangeAspect="1"/>
          </p:cNvPicPr>
          <p:nvPr/>
        </p:nvPicPr>
        <p:blipFill>
          <a:blip r:embed="rId2"/>
          <a:stretch>
            <a:fillRect/>
          </a:stretch>
        </p:blipFill>
        <p:spPr>
          <a:xfrm>
            <a:off x="2018731" y="1783068"/>
            <a:ext cx="8154538" cy="2619741"/>
          </a:xfrm>
          <a:prstGeom prst="rect">
            <a:avLst/>
          </a:prstGeom>
        </p:spPr>
      </p:pic>
      <p:sp>
        <p:nvSpPr>
          <p:cNvPr id="12" name="TextBox 11">
            <a:extLst>
              <a:ext uri="{FF2B5EF4-FFF2-40B4-BE49-F238E27FC236}">
                <a16:creationId xmlns:a16="http://schemas.microsoft.com/office/drawing/2014/main" id="{847C241B-A517-85C8-86C9-E8BADB3D8AB9}"/>
              </a:ext>
            </a:extLst>
          </p:cNvPr>
          <p:cNvSpPr txBox="1"/>
          <p:nvPr/>
        </p:nvSpPr>
        <p:spPr>
          <a:xfrm>
            <a:off x="659815" y="4500211"/>
            <a:ext cx="7327507" cy="369332"/>
          </a:xfrm>
          <a:prstGeom prst="rect">
            <a:avLst/>
          </a:prstGeom>
          <a:noFill/>
        </p:spPr>
        <p:txBody>
          <a:bodyPr wrap="square">
            <a:spAutoFit/>
          </a:bodyPr>
          <a:lstStyle/>
          <a:p>
            <a:r>
              <a:rPr lang="en-US" sz="1800" b="1" i="0" u="none" strike="noStrike" baseline="0" dirty="0">
                <a:latin typeface="MinionPro-Bold"/>
              </a:rPr>
              <a:t>Test rules </a:t>
            </a:r>
            <a:r>
              <a:rPr lang="en-US" sz="1800" b="0" i="0" u="none" strike="noStrike" baseline="0" dirty="0">
                <a:latin typeface="MinionPro-Regular"/>
              </a:rPr>
              <a:t>allow us to add functionality to all the tests within a test class.</a:t>
            </a:r>
            <a:endParaRPr lang="en-US" dirty="0"/>
          </a:p>
        </p:txBody>
      </p:sp>
      <p:sp>
        <p:nvSpPr>
          <p:cNvPr id="14" name="TextBox 13">
            <a:extLst>
              <a:ext uri="{FF2B5EF4-FFF2-40B4-BE49-F238E27FC236}">
                <a16:creationId xmlns:a16="http://schemas.microsoft.com/office/drawing/2014/main" id="{2CCB2509-989B-5437-8C56-0F91AEA64220}"/>
              </a:ext>
            </a:extLst>
          </p:cNvPr>
          <p:cNvSpPr txBox="1"/>
          <p:nvPr/>
        </p:nvSpPr>
        <p:spPr>
          <a:xfrm>
            <a:off x="659815" y="5080001"/>
            <a:ext cx="10125416" cy="923330"/>
          </a:xfrm>
          <a:prstGeom prst="rect">
            <a:avLst/>
          </a:prstGeom>
          <a:noFill/>
        </p:spPr>
        <p:txBody>
          <a:bodyPr wrap="square">
            <a:spAutoFit/>
          </a:bodyPr>
          <a:lstStyle/>
          <a:p>
            <a:pPr algn="l"/>
            <a:r>
              <a:rPr lang="en-US" b="1" i="0" u="none" strike="noStrike" baseline="0" dirty="0" err="1">
                <a:latin typeface="CourierStd"/>
              </a:rPr>
              <a:t>ComposeContentTestRule</a:t>
            </a:r>
            <a:r>
              <a:rPr lang="en-US" sz="1400" b="0" i="0" u="none" strike="noStrike" baseline="0" dirty="0">
                <a:latin typeface="CourierStd"/>
              </a:rPr>
              <a:t> </a:t>
            </a:r>
            <a:r>
              <a:rPr lang="en-US" sz="1800" b="0" i="0" u="none" strike="noStrike" baseline="0" dirty="0">
                <a:latin typeface="MinionPro-Regular"/>
              </a:rPr>
              <a:t>will not only allow us to set the Compose UI under test but also host tests on an Android device, while also giving us the ability to interact with the </a:t>
            </a:r>
            <a:r>
              <a:rPr lang="en-US" sz="1800" b="0" i="0" u="none" strike="noStrike" baseline="0" dirty="0" err="1">
                <a:latin typeface="MinionPro-Regular"/>
              </a:rPr>
              <a:t>composables</a:t>
            </a:r>
            <a:r>
              <a:rPr lang="en-US" sz="1800" b="0" i="0" u="none" strike="noStrike" baseline="0" dirty="0">
                <a:latin typeface="MinionPro-Regular"/>
              </a:rPr>
              <a:t> under test or perform UI assertions.</a:t>
            </a:r>
            <a:endParaRPr lang="en-US" dirty="0"/>
          </a:p>
        </p:txBody>
      </p:sp>
    </p:spTree>
    <p:extLst>
      <p:ext uri="{BB962C8B-B14F-4D97-AF65-F5344CB8AC3E}">
        <p14:creationId xmlns:p14="http://schemas.microsoft.com/office/powerpoint/2010/main" val="3511294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sp>
        <p:nvSpPr>
          <p:cNvPr id="4" name="TextBox 3">
            <a:extLst>
              <a:ext uri="{FF2B5EF4-FFF2-40B4-BE49-F238E27FC236}">
                <a16:creationId xmlns:a16="http://schemas.microsoft.com/office/drawing/2014/main" id="{2AE9719F-7109-916F-7BE6-A0BA7F5FB65B}"/>
              </a:ext>
            </a:extLst>
          </p:cNvPr>
          <p:cNvSpPr txBox="1"/>
          <p:nvPr/>
        </p:nvSpPr>
        <p:spPr>
          <a:xfrm>
            <a:off x="659817" y="1082923"/>
            <a:ext cx="10703752" cy="2862322"/>
          </a:xfrm>
          <a:prstGeom prst="rect">
            <a:avLst/>
          </a:prstGeom>
          <a:noFill/>
        </p:spPr>
        <p:txBody>
          <a:bodyPr wrap="square">
            <a:spAutoFit/>
          </a:bodyPr>
          <a:lstStyle/>
          <a:p>
            <a:pPr algn="l"/>
            <a:r>
              <a:rPr lang="en-US" sz="1800" b="0" i="0" u="none" strike="noStrike" baseline="0" dirty="0">
                <a:latin typeface="MinionPro-Regular"/>
              </a:rPr>
              <a:t>We can say that our screen should have three possible states:</a:t>
            </a:r>
          </a:p>
          <a:p>
            <a:pPr algn="l"/>
            <a:endParaRPr lang="en-US" sz="1800" b="0" i="0" u="none" strike="noStrike" baseline="0" dirty="0">
              <a:latin typeface="MinionPro-Regular"/>
            </a:endParaRPr>
          </a:p>
          <a:p>
            <a:pPr algn="l"/>
            <a:r>
              <a:rPr lang="en-US" sz="1800" b="1" i="0" u="none" strike="noStrike" baseline="0" dirty="0">
                <a:latin typeface="MinionPro-Bold"/>
              </a:rPr>
              <a:t>Initial loading state: </a:t>
            </a:r>
            <a:r>
              <a:rPr lang="en-US" dirty="0">
                <a:latin typeface="MinionPro-Regular"/>
              </a:rPr>
              <a:t> </a:t>
            </a:r>
            <a:r>
              <a:rPr lang="en-US" sz="1800" b="0" i="0" u="none" strike="noStrike" baseline="0" dirty="0">
                <a:latin typeface="MinionPro-Regular"/>
              </a:rPr>
              <a:t>At this point, we're waiting for restaurants, thus rendering a loading status. </a:t>
            </a:r>
          </a:p>
          <a:p>
            <a:pPr algn="l"/>
            <a:endParaRPr lang="en-US" sz="1800" b="0" i="0" u="none" strike="noStrike" baseline="0" dirty="0">
              <a:latin typeface="MinionPro-Regular"/>
            </a:endParaRPr>
          </a:p>
          <a:p>
            <a:pPr algn="l"/>
            <a:r>
              <a:rPr lang="en-US" sz="1800" b="1" i="0" u="none" strike="noStrike" baseline="0" dirty="0">
                <a:latin typeface="MinionPro-Bold"/>
              </a:rPr>
              <a:t>State with content: </a:t>
            </a:r>
            <a:r>
              <a:rPr lang="en-US" sz="1800" b="0" i="0" u="none" strike="noStrike" baseline="0" dirty="0">
                <a:latin typeface="MinionPro-Regular"/>
              </a:rPr>
              <a:t>The restaurants have arrived, so we reset the loading status and render them.</a:t>
            </a:r>
          </a:p>
          <a:p>
            <a:pPr algn="l"/>
            <a:endParaRPr lang="en-US" dirty="0">
              <a:latin typeface="MinionPro-Regular"/>
            </a:endParaRPr>
          </a:p>
          <a:p>
            <a:pPr algn="l"/>
            <a:r>
              <a:rPr lang="en-US" sz="1800" b="1" i="0" u="none" strike="noStrike" baseline="0" dirty="0">
                <a:latin typeface="MinionPro-Bold"/>
              </a:rPr>
              <a:t>Error state: </a:t>
            </a:r>
            <a:r>
              <a:rPr lang="en-US" sz="1800" b="0" i="0" u="none" strike="noStrike" baseline="0" dirty="0">
                <a:latin typeface="MinionPro-Regular"/>
              </a:rPr>
              <a:t>Something went wrong when the app tried to fetch its content – that is, restaurants. You can see how this state is created inside the block of code exposed by </a:t>
            </a:r>
            <a:r>
              <a:rPr lang="en-US" sz="1400" b="0" i="0" u="none" strike="noStrike" baseline="0" dirty="0" err="1">
                <a:latin typeface="CourierStd"/>
              </a:rPr>
              <a:t>CoroutineExceptionHandler</a:t>
            </a:r>
            <a:r>
              <a:rPr lang="en-US" sz="1400" b="0" i="0" u="none" strike="noStrike" baseline="0" dirty="0">
                <a:latin typeface="CourierStd"/>
              </a:rPr>
              <a:t> </a:t>
            </a:r>
            <a:r>
              <a:rPr lang="en-US" sz="1800" b="0" i="0" u="none" strike="noStrike" baseline="0" dirty="0">
                <a:latin typeface="MinionPro-Regular"/>
              </a:rPr>
              <a:t>where the </a:t>
            </a:r>
            <a:r>
              <a:rPr lang="en-US" sz="1400" b="0" i="0" u="none" strike="noStrike" baseline="0" dirty="0" err="1">
                <a:latin typeface="CourierStd"/>
              </a:rPr>
              <a:t>isLoading</a:t>
            </a:r>
            <a:endParaRPr lang="en-US" sz="1400" b="0" i="0" u="none" strike="noStrike" baseline="0" dirty="0">
              <a:latin typeface="CourierStd"/>
            </a:endParaRPr>
          </a:p>
          <a:p>
            <a:pPr algn="l"/>
            <a:r>
              <a:rPr lang="en-US" sz="1800" b="0" i="0" u="none" strike="noStrike" baseline="0" dirty="0">
                <a:latin typeface="MinionPro-Regular"/>
              </a:rPr>
              <a:t>parameter is set to </a:t>
            </a:r>
            <a:r>
              <a:rPr lang="en-US" sz="1400" b="0" i="0" u="none" strike="noStrike" baseline="0" dirty="0">
                <a:latin typeface="CourierStd"/>
              </a:rPr>
              <a:t>false </a:t>
            </a:r>
            <a:r>
              <a:rPr lang="en-US" sz="1800" b="0" i="0" u="none" strike="noStrike" baseline="0" dirty="0">
                <a:latin typeface="MinionPro-Regular"/>
              </a:rPr>
              <a:t>to reset the loading status, while also passing the message of </a:t>
            </a:r>
            <a:r>
              <a:rPr lang="en-US" sz="1400" b="0" i="0" u="none" strike="noStrike" baseline="0" dirty="0">
                <a:latin typeface="CourierStd"/>
              </a:rPr>
              <a:t>Exception </a:t>
            </a:r>
            <a:r>
              <a:rPr lang="en-US" sz="1800" b="0" i="0" u="none" strike="noStrike" baseline="0" dirty="0">
                <a:latin typeface="MinionPro-Regular"/>
              </a:rPr>
              <a:t>to the </a:t>
            </a:r>
            <a:r>
              <a:rPr lang="en-US" sz="1400" b="0" i="0" u="none" strike="noStrike" baseline="0" dirty="0">
                <a:latin typeface="CourierStd"/>
              </a:rPr>
              <a:t>error </a:t>
            </a:r>
            <a:r>
              <a:rPr lang="en-US" sz="1800" b="0" i="0" u="none" strike="noStrike" baseline="0" dirty="0">
                <a:latin typeface="MinionPro-Regular"/>
              </a:rPr>
              <a:t>parameter.</a:t>
            </a:r>
            <a:endParaRPr lang="en-US" dirty="0"/>
          </a:p>
        </p:txBody>
      </p:sp>
      <p:pic>
        <p:nvPicPr>
          <p:cNvPr id="7" name="Рисунок 6">
            <a:extLst>
              <a:ext uri="{FF2B5EF4-FFF2-40B4-BE49-F238E27FC236}">
                <a16:creationId xmlns:a16="http://schemas.microsoft.com/office/drawing/2014/main" id="{4D0BD6F8-41A6-A69B-60F4-F72571065187}"/>
              </a:ext>
            </a:extLst>
          </p:cNvPr>
          <p:cNvPicPr>
            <a:picLocks noChangeAspect="1"/>
          </p:cNvPicPr>
          <p:nvPr/>
        </p:nvPicPr>
        <p:blipFill>
          <a:blip r:embed="rId2"/>
          <a:stretch>
            <a:fillRect/>
          </a:stretch>
        </p:blipFill>
        <p:spPr>
          <a:xfrm>
            <a:off x="2028257" y="3875234"/>
            <a:ext cx="8135485" cy="2600688"/>
          </a:xfrm>
          <a:prstGeom prst="rect">
            <a:avLst/>
          </a:prstGeom>
        </p:spPr>
      </p:pic>
    </p:spTree>
    <p:extLst>
      <p:ext uri="{BB962C8B-B14F-4D97-AF65-F5344CB8AC3E}">
        <p14:creationId xmlns:p14="http://schemas.microsoft.com/office/powerpoint/2010/main" val="200238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pic>
        <p:nvPicPr>
          <p:cNvPr id="5" name="Рисунок 4">
            <a:extLst>
              <a:ext uri="{FF2B5EF4-FFF2-40B4-BE49-F238E27FC236}">
                <a16:creationId xmlns:a16="http://schemas.microsoft.com/office/drawing/2014/main" id="{93CBF819-8092-2D14-524A-FC57D8036BA9}"/>
              </a:ext>
            </a:extLst>
          </p:cNvPr>
          <p:cNvPicPr>
            <a:picLocks noChangeAspect="1"/>
          </p:cNvPicPr>
          <p:nvPr/>
        </p:nvPicPr>
        <p:blipFill>
          <a:blip r:embed="rId2"/>
          <a:stretch>
            <a:fillRect/>
          </a:stretch>
        </p:blipFill>
        <p:spPr>
          <a:xfrm>
            <a:off x="3527629" y="930039"/>
            <a:ext cx="5136740" cy="1664014"/>
          </a:xfrm>
          <a:prstGeom prst="rect">
            <a:avLst/>
          </a:prstGeom>
        </p:spPr>
      </p:pic>
      <p:pic>
        <p:nvPicPr>
          <p:cNvPr id="8" name="Рисунок 7">
            <a:extLst>
              <a:ext uri="{FF2B5EF4-FFF2-40B4-BE49-F238E27FC236}">
                <a16:creationId xmlns:a16="http://schemas.microsoft.com/office/drawing/2014/main" id="{33E2DCB9-260A-1B57-5D7B-EDAA4575EE81}"/>
              </a:ext>
            </a:extLst>
          </p:cNvPr>
          <p:cNvPicPr>
            <a:picLocks noChangeAspect="1"/>
          </p:cNvPicPr>
          <p:nvPr/>
        </p:nvPicPr>
        <p:blipFill>
          <a:blip r:embed="rId3"/>
          <a:stretch>
            <a:fillRect/>
          </a:stretch>
        </p:blipFill>
        <p:spPr>
          <a:xfrm>
            <a:off x="2581967" y="2858497"/>
            <a:ext cx="7028063" cy="3914573"/>
          </a:xfrm>
          <a:prstGeom prst="rect">
            <a:avLst/>
          </a:prstGeom>
        </p:spPr>
      </p:pic>
      <p:cxnSp>
        <p:nvCxnSpPr>
          <p:cNvPr id="10" name="Пряма зі стрілкою 9">
            <a:extLst>
              <a:ext uri="{FF2B5EF4-FFF2-40B4-BE49-F238E27FC236}">
                <a16:creationId xmlns:a16="http://schemas.microsoft.com/office/drawing/2014/main" id="{33E4BF4D-EEC2-E038-DE39-CFA7687DF6B4}"/>
              </a:ext>
            </a:extLst>
          </p:cNvPr>
          <p:cNvCxnSpPr>
            <a:stCxn id="5" idx="2"/>
            <a:endCxn id="8" idx="0"/>
          </p:cNvCxnSpPr>
          <p:nvPr/>
        </p:nvCxnSpPr>
        <p:spPr>
          <a:xfrm>
            <a:off x="6095999" y="2594053"/>
            <a:ext cx="0" cy="2644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047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sp>
        <p:nvSpPr>
          <p:cNvPr id="4" name="TextBox 3">
            <a:extLst>
              <a:ext uri="{FF2B5EF4-FFF2-40B4-BE49-F238E27FC236}">
                <a16:creationId xmlns:a16="http://schemas.microsoft.com/office/drawing/2014/main" id="{0D1BAB00-ECEB-1B13-C184-9BAF416B65CD}"/>
              </a:ext>
            </a:extLst>
          </p:cNvPr>
          <p:cNvSpPr txBox="1"/>
          <p:nvPr/>
        </p:nvSpPr>
        <p:spPr>
          <a:xfrm>
            <a:off x="659817" y="1322091"/>
            <a:ext cx="10062891" cy="4801314"/>
          </a:xfrm>
          <a:prstGeom prst="rect">
            <a:avLst/>
          </a:prstGeom>
          <a:noFill/>
        </p:spPr>
        <p:txBody>
          <a:bodyPr wrap="square">
            <a:spAutoFit/>
          </a:bodyPr>
          <a:lstStyle/>
          <a:p>
            <a:r>
              <a:rPr lang="uk-UA" dirty="0" err="1"/>
              <a:t>Compose</a:t>
            </a:r>
            <a:r>
              <a:rPr lang="uk-UA" dirty="0"/>
              <a:t> надає нам кілька API для тестування, які допомагають нам знаходити елементи, перевіряти їх атрибути та навіть виконувати дії користувача. </a:t>
            </a:r>
          </a:p>
          <a:p>
            <a:endParaRPr lang="uk-UA" dirty="0"/>
          </a:p>
          <a:p>
            <a:r>
              <a:rPr lang="uk-UA" dirty="0"/>
              <a:t>Для тестів UI з </a:t>
            </a:r>
            <a:r>
              <a:rPr lang="uk-UA" dirty="0" err="1"/>
              <a:t>Compose</a:t>
            </a:r>
            <a:r>
              <a:rPr lang="uk-UA" dirty="0"/>
              <a:t> ми розглядаємо частини UI як вузли, які можна ідентифікувати за допомогою </a:t>
            </a:r>
            <a:r>
              <a:rPr lang="uk-UA" b="1" dirty="0"/>
              <a:t>семантики</a:t>
            </a:r>
            <a:r>
              <a:rPr lang="uk-UA" dirty="0"/>
              <a:t>. </a:t>
            </a:r>
            <a:r>
              <a:rPr lang="uk-UA" b="1" dirty="0"/>
              <a:t>Семантика</a:t>
            </a:r>
            <a:r>
              <a:rPr lang="uk-UA" dirty="0"/>
              <a:t> надає значення елементу інтерфейсу, а для цілої ієрархії компонованих елементів генерується </a:t>
            </a:r>
            <a:r>
              <a:rPr lang="uk-UA" b="1" dirty="0"/>
              <a:t>дерево семантики</a:t>
            </a:r>
            <a:r>
              <a:rPr lang="uk-UA" dirty="0"/>
              <a:t>, щоб описати його.</a:t>
            </a:r>
          </a:p>
          <a:p>
            <a:endParaRPr lang="uk-UA" dirty="0"/>
          </a:p>
          <a:p>
            <a:r>
              <a:rPr lang="uk-UA" dirty="0"/>
              <a:t>Іншими словами, ми повинні мати можливість ідентифікувати будь-що, що описано на екрані за допомогою його відкритої семантики. </a:t>
            </a:r>
          </a:p>
          <a:p>
            <a:endParaRPr lang="uk-UA" dirty="0"/>
          </a:p>
          <a:p>
            <a:r>
              <a:rPr lang="uk-UA" dirty="0"/>
              <a:t>Для прикладу, </a:t>
            </a:r>
            <a:r>
              <a:rPr lang="en-US" dirty="0"/>
              <a:t>composable</a:t>
            </a:r>
            <a:r>
              <a:rPr lang="uk-UA" dirty="0"/>
              <a:t> елемент </a:t>
            </a:r>
            <a:r>
              <a:rPr lang="uk-UA" dirty="0" err="1"/>
              <a:t>Text</a:t>
            </a:r>
            <a:r>
              <a:rPr lang="uk-UA" dirty="0"/>
              <a:t>, який відображає об'єкт </a:t>
            </a:r>
            <a:r>
              <a:rPr lang="uk-UA" dirty="0" err="1"/>
              <a:t>String</a:t>
            </a:r>
            <a:r>
              <a:rPr lang="uk-UA" dirty="0"/>
              <a:t>, такий як "Привіт", стане </a:t>
            </a:r>
            <a:r>
              <a:rPr lang="uk-UA" b="1" dirty="0"/>
              <a:t>вузлом</a:t>
            </a:r>
            <a:r>
              <a:rPr lang="uk-UA" dirty="0"/>
              <a:t> у </a:t>
            </a:r>
            <a:r>
              <a:rPr lang="uk-UA" b="1" dirty="0"/>
              <a:t>дереві семантики</a:t>
            </a:r>
            <a:r>
              <a:rPr lang="uk-UA" dirty="0"/>
              <a:t>, який ми можемо ідентифікувати за значенням його властивості тексту – "Привіт". </a:t>
            </a:r>
            <a:endParaRPr lang="en-US" dirty="0"/>
          </a:p>
          <a:p>
            <a:endParaRPr lang="en-US" dirty="0"/>
          </a:p>
          <a:p>
            <a:r>
              <a:rPr lang="uk-UA" dirty="0"/>
              <a:t>Так само </a:t>
            </a:r>
            <a:r>
              <a:rPr lang="en-US" dirty="0"/>
              <a:t>composable</a:t>
            </a:r>
            <a:r>
              <a:rPr lang="uk-UA" dirty="0"/>
              <a:t> елементи, такі як </a:t>
            </a:r>
            <a:r>
              <a:rPr lang="uk-UA" dirty="0" err="1"/>
              <a:t>Image</a:t>
            </a:r>
            <a:r>
              <a:rPr lang="uk-UA" dirty="0"/>
              <a:t>, вимагають обов'язковий параметр </a:t>
            </a:r>
            <a:r>
              <a:rPr lang="uk-UA" b="1" dirty="0" err="1"/>
              <a:t>contentDescription</a:t>
            </a:r>
            <a:r>
              <a:rPr lang="uk-UA" dirty="0"/>
              <a:t>, значення якого дозволить нам ідентифікувати відповідний </a:t>
            </a:r>
            <a:r>
              <a:rPr lang="uk-UA" b="1" dirty="0"/>
              <a:t>вузол</a:t>
            </a:r>
            <a:r>
              <a:rPr lang="uk-UA" dirty="0"/>
              <a:t> у </a:t>
            </a:r>
            <a:r>
              <a:rPr lang="uk-UA" b="1" dirty="0"/>
              <a:t>дереві семантики </a:t>
            </a:r>
            <a:r>
              <a:rPr lang="uk-UA" dirty="0"/>
              <a:t>у наших тестах.</a:t>
            </a:r>
          </a:p>
        </p:txBody>
      </p:sp>
    </p:spTree>
    <p:extLst>
      <p:ext uri="{BB962C8B-B14F-4D97-AF65-F5344CB8AC3E}">
        <p14:creationId xmlns:p14="http://schemas.microsoft.com/office/powerpoint/2010/main" val="23715415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sp>
        <p:nvSpPr>
          <p:cNvPr id="5" name="TextBox 4">
            <a:extLst>
              <a:ext uri="{FF2B5EF4-FFF2-40B4-BE49-F238E27FC236}">
                <a16:creationId xmlns:a16="http://schemas.microsoft.com/office/drawing/2014/main" id="{7B891205-44F9-0D52-78D7-64EDA0F1C87B}"/>
              </a:ext>
            </a:extLst>
          </p:cNvPr>
          <p:cNvSpPr txBox="1"/>
          <p:nvPr/>
        </p:nvSpPr>
        <p:spPr>
          <a:xfrm>
            <a:off x="659817" y="1221605"/>
            <a:ext cx="9750275" cy="646331"/>
          </a:xfrm>
          <a:prstGeom prst="rect">
            <a:avLst/>
          </a:prstGeom>
          <a:noFill/>
        </p:spPr>
        <p:txBody>
          <a:bodyPr wrap="square">
            <a:spAutoFit/>
          </a:bodyPr>
          <a:lstStyle/>
          <a:p>
            <a:r>
              <a:rPr lang="en-US" dirty="0"/>
              <a:t>Some nodes merge the semantics information of their children. For example, a button with two text elements merges the text element labels:</a:t>
            </a:r>
          </a:p>
        </p:txBody>
      </p:sp>
      <p:pic>
        <p:nvPicPr>
          <p:cNvPr id="7" name="Рисунок 6">
            <a:extLst>
              <a:ext uri="{FF2B5EF4-FFF2-40B4-BE49-F238E27FC236}">
                <a16:creationId xmlns:a16="http://schemas.microsoft.com/office/drawing/2014/main" id="{C0939813-62FB-428B-35B4-F0C7B7B67673}"/>
              </a:ext>
            </a:extLst>
          </p:cNvPr>
          <p:cNvPicPr>
            <a:picLocks noChangeAspect="1"/>
          </p:cNvPicPr>
          <p:nvPr/>
        </p:nvPicPr>
        <p:blipFill>
          <a:blip r:embed="rId2"/>
          <a:stretch>
            <a:fillRect/>
          </a:stretch>
        </p:blipFill>
        <p:spPr>
          <a:xfrm>
            <a:off x="5010055" y="1999774"/>
            <a:ext cx="2171885" cy="979232"/>
          </a:xfrm>
          <a:prstGeom prst="rect">
            <a:avLst/>
          </a:prstGeom>
        </p:spPr>
      </p:pic>
      <p:sp>
        <p:nvSpPr>
          <p:cNvPr id="9" name="Rectangle 2">
            <a:extLst>
              <a:ext uri="{FF2B5EF4-FFF2-40B4-BE49-F238E27FC236}">
                <a16:creationId xmlns:a16="http://schemas.microsoft.com/office/drawing/2014/main" id="{6C83727C-83CF-AA44-3CAB-B1439BAC35B0}"/>
              </a:ext>
            </a:extLst>
          </p:cNvPr>
          <p:cNvSpPr>
            <a:spLocks noChangeArrowheads="1"/>
          </p:cNvSpPr>
          <p:nvPr/>
        </p:nvSpPr>
        <p:spPr bwMode="auto">
          <a:xfrm>
            <a:off x="3487366" y="3312459"/>
            <a:ext cx="521726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Unicode MS"/>
              </a:rPr>
              <a:t>composeTestRule.onRoot</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err="1">
                <a:ln>
                  <a:noFill/>
                </a:ln>
                <a:solidFill>
                  <a:schemeClr val="tx1"/>
                </a:solidFill>
                <a:effectLst/>
                <a:latin typeface="Arial Unicode MS"/>
              </a:rPr>
              <a:t>printToLog</a:t>
            </a:r>
            <a:r>
              <a:rPr kumimoji="0" lang="en-US" altLang="en-US" sz="1600" b="0" i="0" u="none" strike="noStrike" cap="none" normalizeH="0" baseline="0" dirty="0">
                <a:ln>
                  <a:noFill/>
                </a:ln>
                <a:solidFill>
                  <a:schemeClr val="tx1"/>
                </a:solidFill>
                <a:effectLst/>
                <a:latin typeface="Arial Unicode MS"/>
              </a:rPr>
              <a:t>("TAG")</a:t>
            </a:r>
            <a:br>
              <a:rPr kumimoji="0" lang="en-US" altLang="en-US" sz="1600" b="0" i="0" u="none" strike="noStrike" cap="none" normalizeH="0" baseline="0" dirty="0">
                <a:ln>
                  <a:noFill/>
                </a:ln>
                <a:solidFill>
                  <a:schemeClr val="tx1"/>
                </a:solidFill>
                <a:effectLst/>
                <a:latin typeface="Arial Unicode MS"/>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12" name="Рисунок 11">
            <a:extLst>
              <a:ext uri="{FF2B5EF4-FFF2-40B4-BE49-F238E27FC236}">
                <a16:creationId xmlns:a16="http://schemas.microsoft.com/office/drawing/2014/main" id="{C3FF36F1-EA0A-5EB5-7CDF-12F4736A13D0}"/>
              </a:ext>
            </a:extLst>
          </p:cNvPr>
          <p:cNvPicPr>
            <a:picLocks noChangeAspect="1"/>
          </p:cNvPicPr>
          <p:nvPr/>
        </p:nvPicPr>
        <p:blipFill>
          <a:blip r:embed="rId3"/>
          <a:stretch>
            <a:fillRect/>
          </a:stretch>
        </p:blipFill>
        <p:spPr>
          <a:xfrm>
            <a:off x="393519" y="4564140"/>
            <a:ext cx="4828148" cy="1548651"/>
          </a:xfrm>
          <a:prstGeom prst="rect">
            <a:avLst/>
          </a:prstGeom>
        </p:spPr>
      </p:pic>
      <p:cxnSp>
        <p:nvCxnSpPr>
          <p:cNvPr id="14" name="Пряма зі стрілкою 13">
            <a:extLst>
              <a:ext uri="{FF2B5EF4-FFF2-40B4-BE49-F238E27FC236}">
                <a16:creationId xmlns:a16="http://schemas.microsoft.com/office/drawing/2014/main" id="{A52B41AC-5525-BB0B-B967-65481E978CD6}"/>
              </a:ext>
            </a:extLst>
          </p:cNvPr>
          <p:cNvCxnSpPr>
            <a:stCxn id="9" idx="2"/>
            <a:endCxn id="12" idx="0"/>
          </p:cNvCxnSpPr>
          <p:nvPr/>
        </p:nvCxnSpPr>
        <p:spPr>
          <a:xfrm flipH="1">
            <a:off x="2807593" y="3897234"/>
            <a:ext cx="3288406" cy="6669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4">
            <a:extLst>
              <a:ext uri="{FF2B5EF4-FFF2-40B4-BE49-F238E27FC236}">
                <a16:creationId xmlns:a16="http://schemas.microsoft.com/office/drawing/2014/main" id="{436B5613-7F04-F811-F80D-BA0DAD735A96}"/>
              </a:ext>
            </a:extLst>
          </p:cNvPr>
          <p:cNvSpPr>
            <a:spLocks noChangeArrowheads="1"/>
          </p:cNvSpPr>
          <p:nvPr/>
        </p:nvSpPr>
        <p:spPr bwMode="auto">
          <a:xfrm>
            <a:off x="5447323" y="4156530"/>
            <a:ext cx="69244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err="1">
                <a:ln>
                  <a:noFill/>
                </a:ln>
                <a:solidFill>
                  <a:schemeClr val="tx1"/>
                </a:solidFill>
                <a:effectLst/>
                <a:latin typeface="Arial Unicode MS"/>
              </a:rPr>
              <a:t>composeTestRule.onRoot</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err="1">
                <a:ln>
                  <a:noFill/>
                </a:ln>
                <a:solidFill>
                  <a:schemeClr val="tx1"/>
                </a:solidFill>
                <a:effectLst/>
                <a:latin typeface="Arial Unicode MS"/>
              </a:rPr>
              <a:t>useUnmergedTree</a:t>
            </a:r>
            <a:r>
              <a:rPr kumimoji="0" lang="en-US" altLang="en-US" sz="1600" b="0" i="0" u="none" strike="noStrike" cap="none" normalizeH="0" baseline="0" dirty="0">
                <a:ln>
                  <a:noFill/>
                </a:ln>
                <a:solidFill>
                  <a:schemeClr val="tx1"/>
                </a:solidFill>
                <a:effectLst/>
                <a:latin typeface="Arial Unicode MS"/>
              </a:rPr>
              <a:t> = true).</a:t>
            </a:r>
            <a:r>
              <a:rPr kumimoji="0" lang="en-US" altLang="en-US" sz="1600" b="0" i="0" u="none" strike="noStrike" cap="none" normalizeH="0" baseline="0" dirty="0" err="1">
                <a:ln>
                  <a:noFill/>
                </a:ln>
                <a:solidFill>
                  <a:schemeClr val="tx1"/>
                </a:solidFill>
                <a:effectLst/>
                <a:latin typeface="Arial Unicode MS"/>
              </a:rPr>
              <a:t>printToLog</a:t>
            </a:r>
            <a:r>
              <a:rPr kumimoji="0" lang="en-US" altLang="en-US" sz="1600" b="0" i="0" u="none" strike="noStrike" cap="none" normalizeH="0" baseline="0" dirty="0">
                <a:ln>
                  <a:noFill/>
                </a:ln>
                <a:solidFill>
                  <a:schemeClr val="tx1"/>
                </a:solidFill>
                <a:effectLst/>
                <a:latin typeface="Arial Unicode MS"/>
              </a:rPr>
              <a:t>("TAG")</a:t>
            </a:r>
            <a:br>
              <a:rPr kumimoji="0" lang="en-US" altLang="en-US" sz="1600" b="0" i="0" u="none" strike="noStrike" cap="none" normalizeH="0" baseline="0" dirty="0">
                <a:ln>
                  <a:noFill/>
                </a:ln>
                <a:solidFill>
                  <a:schemeClr val="tx1"/>
                </a:solidFill>
                <a:effectLst/>
                <a:latin typeface="Arial Unicode MS"/>
              </a:rPr>
            </a:b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pic>
        <p:nvPicPr>
          <p:cNvPr id="18" name="Рисунок 17">
            <a:extLst>
              <a:ext uri="{FF2B5EF4-FFF2-40B4-BE49-F238E27FC236}">
                <a16:creationId xmlns:a16="http://schemas.microsoft.com/office/drawing/2014/main" id="{B7A24E8C-FB2E-5052-7B33-C10DA0E814E2}"/>
              </a:ext>
            </a:extLst>
          </p:cNvPr>
          <p:cNvPicPr>
            <a:picLocks noChangeAspect="1"/>
          </p:cNvPicPr>
          <p:nvPr/>
        </p:nvPicPr>
        <p:blipFill>
          <a:blip r:embed="rId4"/>
          <a:stretch>
            <a:fillRect/>
          </a:stretch>
        </p:blipFill>
        <p:spPr>
          <a:xfrm>
            <a:off x="6806888" y="4830414"/>
            <a:ext cx="4205299" cy="1706026"/>
          </a:xfrm>
          <a:prstGeom prst="rect">
            <a:avLst/>
          </a:prstGeom>
        </p:spPr>
      </p:pic>
      <p:cxnSp>
        <p:nvCxnSpPr>
          <p:cNvPr id="20" name="Пряма зі стрілкою 19">
            <a:extLst>
              <a:ext uri="{FF2B5EF4-FFF2-40B4-BE49-F238E27FC236}">
                <a16:creationId xmlns:a16="http://schemas.microsoft.com/office/drawing/2014/main" id="{57765C14-C817-ED2E-A454-290EF78833A7}"/>
              </a:ext>
            </a:extLst>
          </p:cNvPr>
          <p:cNvCxnSpPr>
            <a:endCxn id="18" idx="0"/>
          </p:cNvCxnSpPr>
          <p:nvPr/>
        </p:nvCxnSpPr>
        <p:spPr>
          <a:xfrm>
            <a:off x="8909537" y="4564140"/>
            <a:ext cx="1" cy="2662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535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pic>
        <p:nvPicPr>
          <p:cNvPr id="4" name="Рисунок 3">
            <a:extLst>
              <a:ext uri="{FF2B5EF4-FFF2-40B4-BE49-F238E27FC236}">
                <a16:creationId xmlns:a16="http://schemas.microsoft.com/office/drawing/2014/main" id="{4A8CB774-D658-0FA3-6F9E-D012F5D3108C}"/>
              </a:ext>
            </a:extLst>
          </p:cNvPr>
          <p:cNvPicPr>
            <a:picLocks noChangeAspect="1"/>
          </p:cNvPicPr>
          <p:nvPr/>
        </p:nvPicPr>
        <p:blipFill>
          <a:blip r:embed="rId2"/>
          <a:stretch>
            <a:fillRect/>
          </a:stretch>
        </p:blipFill>
        <p:spPr>
          <a:xfrm>
            <a:off x="3342891" y="1155473"/>
            <a:ext cx="5506218" cy="1514686"/>
          </a:xfrm>
          <a:prstGeom prst="rect">
            <a:avLst/>
          </a:prstGeom>
        </p:spPr>
      </p:pic>
      <p:pic>
        <p:nvPicPr>
          <p:cNvPr id="8" name="Рисунок 7">
            <a:extLst>
              <a:ext uri="{FF2B5EF4-FFF2-40B4-BE49-F238E27FC236}">
                <a16:creationId xmlns:a16="http://schemas.microsoft.com/office/drawing/2014/main" id="{3FDF70D7-1213-5DFF-2560-26C18AC099D5}"/>
              </a:ext>
            </a:extLst>
          </p:cNvPr>
          <p:cNvPicPr>
            <a:picLocks noChangeAspect="1"/>
          </p:cNvPicPr>
          <p:nvPr/>
        </p:nvPicPr>
        <p:blipFill>
          <a:blip r:embed="rId3"/>
          <a:stretch>
            <a:fillRect/>
          </a:stretch>
        </p:blipFill>
        <p:spPr>
          <a:xfrm>
            <a:off x="2866574" y="2993661"/>
            <a:ext cx="6458851" cy="1714739"/>
          </a:xfrm>
          <a:prstGeom prst="rect">
            <a:avLst/>
          </a:prstGeom>
        </p:spPr>
      </p:pic>
      <p:pic>
        <p:nvPicPr>
          <p:cNvPr id="11" name="Рисунок 10">
            <a:extLst>
              <a:ext uri="{FF2B5EF4-FFF2-40B4-BE49-F238E27FC236}">
                <a16:creationId xmlns:a16="http://schemas.microsoft.com/office/drawing/2014/main" id="{013CFE09-1152-12CA-2830-F189325EB69F}"/>
              </a:ext>
            </a:extLst>
          </p:cNvPr>
          <p:cNvPicPr>
            <a:picLocks noChangeAspect="1"/>
          </p:cNvPicPr>
          <p:nvPr/>
        </p:nvPicPr>
        <p:blipFill>
          <a:blip r:embed="rId4"/>
          <a:stretch>
            <a:fillRect/>
          </a:stretch>
        </p:blipFill>
        <p:spPr>
          <a:xfrm>
            <a:off x="587376" y="5699823"/>
            <a:ext cx="4805223" cy="237621"/>
          </a:xfrm>
          <a:prstGeom prst="rect">
            <a:avLst/>
          </a:prstGeom>
        </p:spPr>
      </p:pic>
      <p:pic>
        <p:nvPicPr>
          <p:cNvPr id="15" name="Рисунок 14">
            <a:extLst>
              <a:ext uri="{FF2B5EF4-FFF2-40B4-BE49-F238E27FC236}">
                <a16:creationId xmlns:a16="http://schemas.microsoft.com/office/drawing/2014/main" id="{FB5F44A1-F27F-DD94-A356-624824F54464}"/>
              </a:ext>
            </a:extLst>
          </p:cNvPr>
          <p:cNvPicPr>
            <a:picLocks noChangeAspect="1"/>
          </p:cNvPicPr>
          <p:nvPr/>
        </p:nvPicPr>
        <p:blipFill>
          <a:blip r:embed="rId5"/>
          <a:stretch>
            <a:fillRect/>
          </a:stretch>
        </p:blipFill>
        <p:spPr>
          <a:xfrm>
            <a:off x="7253903" y="5318442"/>
            <a:ext cx="3360256" cy="1000382"/>
          </a:xfrm>
          <a:prstGeom prst="rect">
            <a:avLst/>
          </a:prstGeom>
        </p:spPr>
      </p:pic>
      <p:cxnSp>
        <p:nvCxnSpPr>
          <p:cNvPr id="19" name="Пряма зі стрілкою 18">
            <a:extLst>
              <a:ext uri="{FF2B5EF4-FFF2-40B4-BE49-F238E27FC236}">
                <a16:creationId xmlns:a16="http://schemas.microsoft.com/office/drawing/2014/main" id="{7C4CC315-C2B3-D9AA-57E6-E879D461F789}"/>
              </a:ext>
            </a:extLst>
          </p:cNvPr>
          <p:cNvCxnSpPr>
            <a:stCxn id="11" idx="3"/>
            <a:endCxn id="15" idx="1"/>
          </p:cNvCxnSpPr>
          <p:nvPr/>
        </p:nvCxnSpPr>
        <p:spPr>
          <a:xfrm flipV="1">
            <a:off x="5392599" y="5818633"/>
            <a:ext cx="1861304"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29EF4A6-B50C-7950-E5D3-89A69CDCEC84}"/>
              </a:ext>
            </a:extLst>
          </p:cNvPr>
          <p:cNvSpPr txBox="1"/>
          <p:nvPr/>
        </p:nvSpPr>
        <p:spPr>
          <a:xfrm>
            <a:off x="6277585" y="144917"/>
            <a:ext cx="6111630" cy="646331"/>
          </a:xfrm>
          <a:prstGeom prst="rect">
            <a:avLst/>
          </a:prstGeom>
          <a:noFill/>
        </p:spPr>
        <p:txBody>
          <a:bodyPr wrap="square">
            <a:spAutoFit/>
          </a:bodyPr>
          <a:lstStyle/>
          <a:p>
            <a:r>
              <a:rPr lang="en-US" dirty="0"/>
              <a:t>https://medium.com/deemaze-software/testing-in-jetpack-compose-90674052b48c</a:t>
            </a:r>
          </a:p>
        </p:txBody>
      </p:sp>
      <p:sp>
        <p:nvSpPr>
          <p:cNvPr id="25" name="TextBox 24">
            <a:extLst>
              <a:ext uri="{FF2B5EF4-FFF2-40B4-BE49-F238E27FC236}">
                <a16:creationId xmlns:a16="http://schemas.microsoft.com/office/drawing/2014/main" id="{ECF5984B-3F03-36E8-DC65-14F832FD67AE}"/>
              </a:ext>
            </a:extLst>
          </p:cNvPr>
          <p:cNvSpPr txBox="1"/>
          <p:nvPr/>
        </p:nvSpPr>
        <p:spPr>
          <a:xfrm>
            <a:off x="5392599" y="809056"/>
            <a:ext cx="6607907" cy="369332"/>
          </a:xfrm>
          <a:prstGeom prst="rect">
            <a:avLst/>
          </a:prstGeom>
          <a:noFill/>
        </p:spPr>
        <p:txBody>
          <a:bodyPr wrap="square">
            <a:spAutoFit/>
          </a:bodyPr>
          <a:lstStyle/>
          <a:p>
            <a:r>
              <a:rPr lang="en-US" dirty="0"/>
              <a:t>https://developer.android.com/develop/ui/compose/testing</a:t>
            </a:r>
          </a:p>
        </p:txBody>
      </p:sp>
    </p:spTree>
    <p:extLst>
      <p:ext uri="{BB962C8B-B14F-4D97-AF65-F5344CB8AC3E}">
        <p14:creationId xmlns:p14="http://schemas.microsoft.com/office/powerpoint/2010/main" val="776264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pic>
        <p:nvPicPr>
          <p:cNvPr id="5" name="Рисунок 4">
            <a:extLst>
              <a:ext uri="{FF2B5EF4-FFF2-40B4-BE49-F238E27FC236}">
                <a16:creationId xmlns:a16="http://schemas.microsoft.com/office/drawing/2014/main" id="{5585E254-B7B6-2172-A467-DBA34A29DAE1}"/>
              </a:ext>
            </a:extLst>
          </p:cNvPr>
          <p:cNvPicPr>
            <a:picLocks noChangeAspect="1"/>
          </p:cNvPicPr>
          <p:nvPr/>
        </p:nvPicPr>
        <p:blipFill>
          <a:blip r:embed="rId2"/>
          <a:stretch>
            <a:fillRect/>
          </a:stretch>
        </p:blipFill>
        <p:spPr>
          <a:xfrm>
            <a:off x="2042547" y="1045312"/>
            <a:ext cx="8106906" cy="1324160"/>
          </a:xfrm>
          <a:prstGeom prst="rect">
            <a:avLst/>
          </a:prstGeom>
        </p:spPr>
      </p:pic>
      <p:pic>
        <p:nvPicPr>
          <p:cNvPr id="7" name="Рисунок 6">
            <a:extLst>
              <a:ext uri="{FF2B5EF4-FFF2-40B4-BE49-F238E27FC236}">
                <a16:creationId xmlns:a16="http://schemas.microsoft.com/office/drawing/2014/main" id="{BD4B374B-5B6A-18A1-4887-F51AED4BE332}"/>
              </a:ext>
            </a:extLst>
          </p:cNvPr>
          <p:cNvPicPr>
            <a:picLocks noChangeAspect="1"/>
          </p:cNvPicPr>
          <p:nvPr/>
        </p:nvPicPr>
        <p:blipFill>
          <a:blip r:embed="rId3"/>
          <a:stretch>
            <a:fillRect/>
          </a:stretch>
        </p:blipFill>
        <p:spPr>
          <a:xfrm>
            <a:off x="2033020" y="2539985"/>
            <a:ext cx="8116433" cy="2943636"/>
          </a:xfrm>
          <a:prstGeom prst="rect">
            <a:avLst/>
          </a:prstGeom>
        </p:spPr>
      </p:pic>
      <p:pic>
        <p:nvPicPr>
          <p:cNvPr id="9" name="Рисунок 8">
            <a:extLst>
              <a:ext uri="{FF2B5EF4-FFF2-40B4-BE49-F238E27FC236}">
                <a16:creationId xmlns:a16="http://schemas.microsoft.com/office/drawing/2014/main" id="{44339A3F-9697-EAFB-D4A0-D59025D00987}"/>
              </a:ext>
            </a:extLst>
          </p:cNvPr>
          <p:cNvPicPr>
            <a:picLocks noChangeAspect="1"/>
          </p:cNvPicPr>
          <p:nvPr/>
        </p:nvPicPr>
        <p:blipFill>
          <a:blip r:embed="rId4"/>
          <a:stretch>
            <a:fillRect/>
          </a:stretch>
        </p:blipFill>
        <p:spPr>
          <a:xfrm>
            <a:off x="2036444" y="5428913"/>
            <a:ext cx="8106906" cy="1314633"/>
          </a:xfrm>
          <a:prstGeom prst="rect">
            <a:avLst/>
          </a:prstGeom>
        </p:spPr>
      </p:pic>
    </p:spTree>
    <p:extLst>
      <p:ext uri="{BB962C8B-B14F-4D97-AF65-F5344CB8AC3E}">
        <p14:creationId xmlns:p14="http://schemas.microsoft.com/office/powerpoint/2010/main" val="3184699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pic>
        <p:nvPicPr>
          <p:cNvPr id="4" name="Рисунок 3">
            <a:extLst>
              <a:ext uri="{FF2B5EF4-FFF2-40B4-BE49-F238E27FC236}">
                <a16:creationId xmlns:a16="http://schemas.microsoft.com/office/drawing/2014/main" id="{2B0C0CC3-23A8-8685-EE3D-2363C4C76B72}"/>
              </a:ext>
            </a:extLst>
          </p:cNvPr>
          <p:cNvPicPr>
            <a:picLocks noChangeAspect="1"/>
          </p:cNvPicPr>
          <p:nvPr/>
        </p:nvPicPr>
        <p:blipFill>
          <a:blip r:embed="rId2"/>
          <a:stretch>
            <a:fillRect/>
          </a:stretch>
        </p:blipFill>
        <p:spPr>
          <a:xfrm>
            <a:off x="2332546" y="1008189"/>
            <a:ext cx="7526907" cy="2729054"/>
          </a:xfrm>
          <a:prstGeom prst="rect">
            <a:avLst/>
          </a:prstGeom>
        </p:spPr>
      </p:pic>
      <p:pic>
        <p:nvPicPr>
          <p:cNvPr id="8" name="Рисунок 7">
            <a:extLst>
              <a:ext uri="{FF2B5EF4-FFF2-40B4-BE49-F238E27FC236}">
                <a16:creationId xmlns:a16="http://schemas.microsoft.com/office/drawing/2014/main" id="{6FE04821-4BA5-B237-649E-7BA6EC81878A}"/>
              </a:ext>
            </a:extLst>
          </p:cNvPr>
          <p:cNvPicPr>
            <a:picLocks noChangeAspect="1"/>
          </p:cNvPicPr>
          <p:nvPr/>
        </p:nvPicPr>
        <p:blipFill>
          <a:blip r:embed="rId3"/>
          <a:stretch>
            <a:fillRect/>
          </a:stretch>
        </p:blipFill>
        <p:spPr>
          <a:xfrm>
            <a:off x="1871418" y="4209680"/>
            <a:ext cx="8449164" cy="2555895"/>
          </a:xfrm>
          <a:prstGeom prst="rect">
            <a:avLst/>
          </a:prstGeom>
        </p:spPr>
      </p:pic>
      <p:cxnSp>
        <p:nvCxnSpPr>
          <p:cNvPr id="11" name="Пряма зі стрілкою 10">
            <a:extLst>
              <a:ext uri="{FF2B5EF4-FFF2-40B4-BE49-F238E27FC236}">
                <a16:creationId xmlns:a16="http://schemas.microsoft.com/office/drawing/2014/main" id="{98C0B137-5133-1461-1204-16017CDA3268}"/>
              </a:ext>
            </a:extLst>
          </p:cNvPr>
          <p:cNvCxnSpPr>
            <a:stCxn id="4" idx="2"/>
            <a:endCxn id="8" idx="0"/>
          </p:cNvCxnSpPr>
          <p:nvPr/>
        </p:nvCxnSpPr>
        <p:spPr>
          <a:xfrm>
            <a:off x="6096000" y="3737243"/>
            <a:ext cx="0" cy="4724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1124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sp>
        <p:nvSpPr>
          <p:cNvPr id="5" name="TextBox 4">
            <a:extLst>
              <a:ext uri="{FF2B5EF4-FFF2-40B4-BE49-F238E27FC236}">
                <a16:creationId xmlns:a16="http://schemas.microsoft.com/office/drawing/2014/main" id="{1DDB6F4C-ACD9-A1D3-5C17-5E64B4DE19B4}"/>
              </a:ext>
            </a:extLst>
          </p:cNvPr>
          <p:cNvSpPr txBox="1"/>
          <p:nvPr/>
        </p:nvSpPr>
        <p:spPr>
          <a:xfrm>
            <a:off x="659817" y="1167842"/>
            <a:ext cx="10383321" cy="369332"/>
          </a:xfrm>
          <a:prstGeom prst="rect">
            <a:avLst/>
          </a:prstGeom>
          <a:noFill/>
        </p:spPr>
        <p:txBody>
          <a:bodyPr wrap="square">
            <a:spAutoFit/>
          </a:bodyPr>
          <a:lstStyle/>
          <a:p>
            <a:pPr algn="l"/>
            <a:r>
              <a:rPr lang="en-US" sz="1800" b="0" i="0" u="none" strike="noStrike" baseline="0" dirty="0">
                <a:latin typeface="MinionPro-Regular"/>
              </a:rPr>
              <a:t>Now, it's time to test whether the </a:t>
            </a:r>
            <a:r>
              <a:rPr lang="en-US" b="1" i="0" u="none" strike="noStrike" baseline="0" dirty="0" err="1">
                <a:latin typeface="CourierStd"/>
              </a:rPr>
              <a:t>RestaurantsScreen</a:t>
            </a:r>
            <a:r>
              <a:rPr lang="en-US" sz="1400" b="0" i="0" u="none" strike="noStrike" baseline="0" dirty="0">
                <a:latin typeface="CourierStd"/>
              </a:rPr>
              <a:t>() </a:t>
            </a:r>
            <a:r>
              <a:rPr lang="en-US" sz="1800" b="0" i="0" u="none" strike="noStrike" baseline="0" dirty="0">
                <a:latin typeface="MinionPro-Regular"/>
              </a:rPr>
              <a:t>composable is rendering state with content.</a:t>
            </a:r>
            <a:endParaRPr lang="en-US" dirty="0"/>
          </a:p>
        </p:txBody>
      </p:sp>
      <p:pic>
        <p:nvPicPr>
          <p:cNvPr id="7" name="Рисунок 6">
            <a:extLst>
              <a:ext uri="{FF2B5EF4-FFF2-40B4-BE49-F238E27FC236}">
                <a16:creationId xmlns:a16="http://schemas.microsoft.com/office/drawing/2014/main" id="{28C4C996-E4C4-B4F1-FD29-43DA512D27EA}"/>
              </a:ext>
            </a:extLst>
          </p:cNvPr>
          <p:cNvPicPr>
            <a:picLocks noChangeAspect="1"/>
          </p:cNvPicPr>
          <p:nvPr/>
        </p:nvPicPr>
        <p:blipFill>
          <a:blip r:embed="rId2"/>
          <a:stretch>
            <a:fillRect/>
          </a:stretch>
        </p:blipFill>
        <p:spPr>
          <a:xfrm>
            <a:off x="3399519" y="1603157"/>
            <a:ext cx="5392961" cy="1539043"/>
          </a:xfrm>
          <a:prstGeom prst="rect">
            <a:avLst/>
          </a:prstGeom>
        </p:spPr>
      </p:pic>
      <p:pic>
        <p:nvPicPr>
          <p:cNvPr id="10" name="Рисунок 9">
            <a:extLst>
              <a:ext uri="{FF2B5EF4-FFF2-40B4-BE49-F238E27FC236}">
                <a16:creationId xmlns:a16="http://schemas.microsoft.com/office/drawing/2014/main" id="{FB9A2287-0D28-EECB-F7B7-13D95E7DF5C4}"/>
              </a:ext>
            </a:extLst>
          </p:cNvPr>
          <p:cNvPicPr>
            <a:picLocks noChangeAspect="1"/>
          </p:cNvPicPr>
          <p:nvPr/>
        </p:nvPicPr>
        <p:blipFill>
          <a:blip r:embed="rId3"/>
          <a:stretch>
            <a:fillRect/>
          </a:stretch>
        </p:blipFill>
        <p:spPr>
          <a:xfrm>
            <a:off x="2042546" y="3301945"/>
            <a:ext cx="8106906" cy="1952898"/>
          </a:xfrm>
          <a:prstGeom prst="rect">
            <a:avLst/>
          </a:prstGeom>
        </p:spPr>
      </p:pic>
      <p:pic>
        <p:nvPicPr>
          <p:cNvPr id="13" name="Рисунок 12">
            <a:extLst>
              <a:ext uri="{FF2B5EF4-FFF2-40B4-BE49-F238E27FC236}">
                <a16:creationId xmlns:a16="http://schemas.microsoft.com/office/drawing/2014/main" id="{702555F3-717A-95CC-E09F-F94CF60EE6A6}"/>
              </a:ext>
            </a:extLst>
          </p:cNvPr>
          <p:cNvPicPr>
            <a:picLocks noChangeAspect="1"/>
          </p:cNvPicPr>
          <p:nvPr/>
        </p:nvPicPr>
        <p:blipFill>
          <a:blip r:embed="rId4"/>
          <a:stretch>
            <a:fillRect/>
          </a:stretch>
        </p:blipFill>
        <p:spPr>
          <a:xfrm>
            <a:off x="2042546" y="5227437"/>
            <a:ext cx="8135485" cy="1314633"/>
          </a:xfrm>
          <a:prstGeom prst="rect">
            <a:avLst/>
          </a:prstGeom>
        </p:spPr>
      </p:pic>
    </p:spTree>
    <p:extLst>
      <p:ext uri="{BB962C8B-B14F-4D97-AF65-F5344CB8AC3E}">
        <p14:creationId xmlns:p14="http://schemas.microsoft.com/office/powerpoint/2010/main" val="35308713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sp>
        <p:nvSpPr>
          <p:cNvPr id="5" name="TextBox 4">
            <a:extLst>
              <a:ext uri="{FF2B5EF4-FFF2-40B4-BE49-F238E27FC236}">
                <a16:creationId xmlns:a16="http://schemas.microsoft.com/office/drawing/2014/main" id="{1DDB6F4C-ACD9-A1D3-5C17-5E64B4DE19B4}"/>
              </a:ext>
            </a:extLst>
          </p:cNvPr>
          <p:cNvSpPr txBox="1"/>
          <p:nvPr/>
        </p:nvSpPr>
        <p:spPr>
          <a:xfrm>
            <a:off x="659817" y="1167842"/>
            <a:ext cx="10383321" cy="369332"/>
          </a:xfrm>
          <a:prstGeom prst="rect">
            <a:avLst/>
          </a:prstGeom>
          <a:noFill/>
        </p:spPr>
        <p:txBody>
          <a:bodyPr wrap="square">
            <a:spAutoFit/>
          </a:bodyPr>
          <a:lstStyle/>
          <a:p>
            <a:pPr algn="l"/>
            <a:r>
              <a:rPr lang="en-US" sz="1800" b="0" i="0" u="none" strike="noStrike" baseline="0" dirty="0">
                <a:latin typeface="MinionPro-Regular"/>
              </a:rPr>
              <a:t>Now, it's time to test whether the </a:t>
            </a:r>
            <a:r>
              <a:rPr lang="en-US" b="1" i="0" u="none" strike="noStrike" baseline="0" dirty="0" err="1">
                <a:latin typeface="CourierStd"/>
              </a:rPr>
              <a:t>RestaurantsScreen</a:t>
            </a:r>
            <a:r>
              <a:rPr lang="en-US" sz="1400" b="0" i="0" u="none" strike="noStrike" baseline="0" dirty="0">
                <a:latin typeface="CourierStd"/>
              </a:rPr>
              <a:t>() </a:t>
            </a:r>
            <a:r>
              <a:rPr lang="en-US" sz="1800" b="0" i="0" u="none" strike="noStrike" baseline="0" dirty="0">
                <a:latin typeface="MinionPro-Regular"/>
              </a:rPr>
              <a:t>composable is rendering state with content.</a:t>
            </a:r>
            <a:endParaRPr lang="en-US" dirty="0"/>
          </a:p>
        </p:txBody>
      </p:sp>
      <p:pic>
        <p:nvPicPr>
          <p:cNvPr id="4" name="Рисунок 3">
            <a:extLst>
              <a:ext uri="{FF2B5EF4-FFF2-40B4-BE49-F238E27FC236}">
                <a16:creationId xmlns:a16="http://schemas.microsoft.com/office/drawing/2014/main" id="{16DB10C6-D1A6-67F7-BF8C-86BECF6FE58E}"/>
              </a:ext>
            </a:extLst>
          </p:cNvPr>
          <p:cNvPicPr>
            <a:picLocks noChangeAspect="1"/>
          </p:cNvPicPr>
          <p:nvPr/>
        </p:nvPicPr>
        <p:blipFill>
          <a:blip r:embed="rId2"/>
          <a:stretch>
            <a:fillRect/>
          </a:stretch>
        </p:blipFill>
        <p:spPr>
          <a:xfrm>
            <a:off x="2047310" y="1749581"/>
            <a:ext cx="8097380" cy="1000265"/>
          </a:xfrm>
          <a:prstGeom prst="rect">
            <a:avLst/>
          </a:prstGeom>
        </p:spPr>
      </p:pic>
      <p:pic>
        <p:nvPicPr>
          <p:cNvPr id="8" name="Рисунок 7">
            <a:extLst>
              <a:ext uri="{FF2B5EF4-FFF2-40B4-BE49-F238E27FC236}">
                <a16:creationId xmlns:a16="http://schemas.microsoft.com/office/drawing/2014/main" id="{E2AE75A6-4DC0-68DA-725B-1A648D7D4C27}"/>
              </a:ext>
            </a:extLst>
          </p:cNvPr>
          <p:cNvPicPr>
            <a:picLocks noChangeAspect="1"/>
          </p:cNvPicPr>
          <p:nvPr/>
        </p:nvPicPr>
        <p:blipFill>
          <a:blip r:embed="rId3"/>
          <a:stretch>
            <a:fillRect/>
          </a:stretch>
        </p:blipFill>
        <p:spPr>
          <a:xfrm>
            <a:off x="2028257" y="3234161"/>
            <a:ext cx="8106906" cy="971686"/>
          </a:xfrm>
          <a:prstGeom prst="rect">
            <a:avLst/>
          </a:prstGeom>
        </p:spPr>
      </p:pic>
      <p:pic>
        <p:nvPicPr>
          <p:cNvPr id="11" name="Рисунок 10">
            <a:extLst>
              <a:ext uri="{FF2B5EF4-FFF2-40B4-BE49-F238E27FC236}">
                <a16:creationId xmlns:a16="http://schemas.microsoft.com/office/drawing/2014/main" id="{A296454E-BE12-597A-082B-3C996CF7F1D4}"/>
              </a:ext>
            </a:extLst>
          </p:cNvPr>
          <p:cNvPicPr>
            <a:picLocks noChangeAspect="1"/>
          </p:cNvPicPr>
          <p:nvPr/>
        </p:nvPicPr>
        <p:blipFill>
          <a:blip r:embed="rId4"/>
          <a:stretch>
            <a:fillRect/>
          </a:stretch>
        </p:blipFill>
        <p:spPr>
          <a:xfrm>
            <a:off x="2028257" y="4690162"/>
            <a:ext cx="8125959" cy="933580"/>
          </a:xfrm>
          <a:prstGeom prst="rect">
            <a:avLst/>
          </a:prstGeom>
        </p:spPr>
      </p:pic>
    </p:spTree>
    <p:extLst>
      <p:ext uri="{BB962C8B-B14F-4D97-AF65-F5344CB8AC3E}">
        <p14:creationId xmlns:p14="http://schemas.microsoft.com/office/powerpoint/2010/main" val="1808326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Testing Compose UI</a:t>
            </a:r>
          </a:p>
        </p:txBody>
      </p:sp>
      <p:sp>
        <p:nvSpPr>
          <p:cNvPr id="5" name="TextBox 4">
            <a:extLst>
              <a:ext uri="{FF2B5EF4-FFF2-40B4-BE49-F238E27FC236}">
                <a16:creationId xmlns:a16="http://schemas.microsoft.com/office/drawing/2014/main" id="{1DDB6F4C-ACD9-A1D3-5C17-5E64B4DE19B4}"/>
              </a:ext>
            </a:extLst>
          </p:cNvPr>
          <p:cNvSpPr txBox="1"/>
          <p:nvPr/>
        </p:nvSpPr>
        <p:spPr>
          <a:xfrm>
            <a:off x="659817" y="1167842"/>
            <a:ext cx="10383321" cy="369332"/>
          </a:xfrm>
          <a:prstGeom prst="rect">
            <a:avLst/>
          </a:prstGeom>
          <a:noFill/>
        </p:spPr>
        <p:txBody>
          <a:bodyPr wrap="square">
            <a:spAutoFit/>
          </a:bodyPr>
          <a:lstStyle/>
          <a:p>
            <a:pPr algn="l"/>
            <a:r>
              <a:rPr lang="en-US" sz="1800" b="0" i="0" u="none" strike="noStrike" baseline="0" dirty="0">
                <a:latin typeface="MinionPro-Regular"/>
              </a:rPr>
              <a:t>Now, it's time to test whether the </a:t>
            </a:r>
            <a:r>
              <a:rPr lang="en-US" b="1" i="0" u="none" strike="noStrike" baseline="0" dirty="0" err="1">
                <a:latin typeface="CourierStd"/>
              </a:rPr>
              <a:t>RestaurantsScreen</a:t>
            </a:r>
            <a:r>
              <a:rPr lang="en-US" sz="1400" b="0" i="0" u="none" strike="noStrike" baseline="0" dirty="0">
                <a:latin typeface="CourierStd"/>
              </a:rPr>
              <a:t>() </a:t>
            </a:r>
            <a:r>
              <a:rPr lang="en-US" sz="1800" b="0" i="0" u="none" strike="noStrike" baseline="0" dirty="0">
                <a:latin typeface="MinionPro-Regular"/>
              </a:rPr>
              <a:t>composable is rendering state with content.</a:t>
            </a:r>
            <a:endParaRPr lang="en-US" dirty="0"/>
          </a:p>
        </p:txBody>
      </p:sp>
      <p:sp>
        <p:nvSpPr>
          <p:cNvPr id="6" name="TextBox 5">
            <a:extLst>
              <a:ext uri="{FF2B5EF4-FFF2-40B4-BE49-F238E27FC236}">
                <a16:creationId xmlns:a16="http://schemas.microsoft.com/office/drawing/2014/main" id="{29268D66-ABC7-2849-53F8-4F21B454E1D9}"/>
              </a:ext>
            </a:extLst>
          </p:cNvPr>
          <p:cNvSpPr txBox="1"/>
          <p:nvPr/>
        </p:nvSpPr>
        <p:spPr>
          <a:xfrm>
            <a:off x="659817" y="1696827"/>
            <a:ext cx="10172306" cy="646331"/>
          </a:xfrm>
          <a:prstGeom prst="rect">
            <a:avLst/>
          </a:prstGeom>
          <a:noFill/>
        </p:spPr>
        <p:txBody>
          <a:bodyPr wrap="square">
            <a:spAutoFit/>
          </a:bodyPr>
          <a:lstStyle/>
          <a:p>
            <a:pPr algn="l"/>
            <a:r>
              <a:rPr lang="en-US" sz="1800" b="0" i="0" u="none" strike="noStrike" baseline="0" dirty="0">
                <a:latin typeface="MinionPro-Regular"/>
              </a:rPr>
              <a:t>Then, identify the node that contains the </a:t>
            </a:r>
            <a:r>
              <a:rPr lang="en-US" b="1" i="0" u="none" strike="noStrike" baseline="0" dirty="0">
                <a:latin typeface="CourierStd"/>
              </a:rPr>
              <a:t>title</a:t>
            </a:r>
            <a:r>
              <a:rPr lang="en-US" sz="1400" b="0" i="0" u="none" strike="noStrike" baseline="0" dirty="0">
                <a:latin typeface="CourierStd"/>
              </a:rPr>
              <a:t> </a:t>
            </a:r>
            <a:r>
              <a:rPr lang="en-US" sz="1800" b="0" i="0" u="none" strike="noStrike" baseline="0" dirty="0">
                <a:latin typeface="MinionPro-Regular"/>
              </a:rPr>
              <a:t>text of </a:t>
            </a:r>
            <a:r>
              <a:rPr lang="en-US" b="1" i="0" u="none" strike="noStrike" baseline="0" dirty="0" err="1">
                <a:latin typeface="CourierStd"/>
              </a:rPr>
              <a:t>targetRestaurant</a:t>
            </a:r>
            <a:r>
              <a:rPr lang="en-US" sz="1400" b="0" i="0" u="none" strike="noStrike" baseline="0" dirty="0">
                <a:latin typeface="CourierStd"/>
              </a:rPr>
              <a:t> </a:t>
            </a:r>
            <a:r>
              <a:rPr lang="en-US" sz="1800" b="0" i="0" u="none" strike="noStrike" baseline="0" dirty="0">
                <a:latin typeface="MinionPro-Regular"/>
              </a:rPr>
              <a:t>and then simulate a user click on this node by calling the </a:t>
            </a:r>
            <a:r>
              <a:rPr lang="en-US" b="1" i="0" u="none" strike="noStrike" baseline="0" dirty="0" err="1">
                <a:latin typeface="CourierStd"/>
              </a:rPr>
              <a:t>performClick</a:t>
            </a:r>
            <a:r>
              <a:rPr lang="en-US" sz="1400" b="0" i="0" u="none" strike="noStrike" baseline="0" dirty="0">
                <a:latin typeface="CourierStd"/>
              </a:rPr>
              <a:t>() </a:t>
            </a:r>
            <a:r>
              <a:rPr lang="en-US" sz="1800" b="0" i="0" u="none" strike="noStrike" baseline="0" dirty="0">
                <a:latin typeface="MinionPro-Regular"/>
              </a:rPr>
              <a:t>method:</a:t>
            </a:r>
            <a:endParaRPr lang="en-US" dirty="0"/>
          </a:p>
        </p:txBody>
      </p:sp>
      <p:pic>
        <p:nvPicPr>
          <p:cNvPr id="9" name="Рисунок 8">
            <a:extLst>
              <a:ext uri="{FF2B5EF4-FFF2-40B4-BE49-F238E27FC236}">
                <a16:creationId xmlns:a16="http://schemas.microsoft.com/office/drawing/2014/main" id="{893C4EC6-3001-4646-90D5-027FBDFF0F20}"/>
              </a:ext>
            </a:extLst>
          </p:cNvPr>
          <p:cNvPicPr>
            <a:picLocks noChangeAspect="1"/>
          </p:cNvPicPr>
          <p:nvPr/>
        </p:nvPicPr>
        <p:blipFill>
          <a:blip r:embed="rId2"/>
          <a:stretch>
            <a:fillRect/>
          </a:stretch>
        </p:blipFill>
        <p:spPr>
          <a:xfrm>
            <a:off x="386279" y="2502811"/>
            <a:ext cx="6093268" cy="4152874"/>
          </a:xfrm>
          <a:prstGeom prst="rect">
            <a:avLst/>
          </a:prstGeom>
        </p:spPr>
      </p:pic>
      <p:pic>
        <p:nvPicPr>
          <p:cNvPr id="12" name="Рисунок 11">
            <a:extLst>
              <a:ext uri="{FF2B5EF4-FFF2-40B4-BE49-F238E27FC236}">
                <a16:creationId xmlns:a16="http://schemas.microsoft.com/office/drawing/2014/main" id="{AB32B302-B779-4B2F-F241-EEB0AF8EAB69}"/>
              </a:ext>
            </a:extLst>
          </p:cNvPr>
          <p:cNvPicPr>
            <a:picLocks noChangeAspect="1"/>
          </p:cNvPicPr>
          <p:nvPr/>
        </p:nvPicPr>
        <p:blipFill>
          <a:blip r:embed="rId3"/>
          <a:stretch>
            <a:fillRect/>
          </a:stretch>
        </p:blipFill>
        <p:spPr>
          <a:xfrm>
            <a:off x="7139868" y="5007296"/>
            <a:ext cx="4981794" cy="570056"/>
          </a:xfrm>
          <a:prstGeom prst="rect">
            <a:avLst/>
          </a:prstGeom>
        </p:spPr>
      </p:pic>
      <p:cxnSp>
        <p:nvCxnSpPr>
          <p:cNvPr id="14" name="Пряма зі стрілкою 13">
            <a:extLst>
              <a:ext uri="{FF2B5EF4-FFF2-40B4-BE49-F238E27FC236}">
                <a16:creationId xmlns:a16="http://schemas.microsoft.com/office/drawing/2014/main" id="{785C3877-A700-E201-731A-EA2819166449}"/>
              </a:ext>
            </a:extLst>
          </p:cNvPr>
          <p:cNvCxnSpPr/>
          <p:nvPr/>
        </p:nvCxnSpPr>
        <p:spPr>
          <a:xfrm flipV="1">
            <a:off x="4626708" y="5161173"/>
            <a:ext cx="2513160" cy="1311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49107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382078"/>
            <a:ext cx="11063260" cy="626111"/>
          </a:xfrm>
        </p:spPr>
        <p:txBody>
          <a:bodyPr>
            <a:noAutofit/>
          </a:bodyPr>
          <a:lstStyle/>
          <a:p>
            <a:r>
              <a:rPr lang="en-US" sz="3600" dirty="0"/>
              <a:t>Unit Testing of core logic</a:t>
            </a:r>
          </a:p>
        </p:txBody>
      </p:sp>
      <p:sp>
        <p:nvSpPr>
          <p:cNvPr id="4" name="TextBox 3">
            <a:extLst>
              <a:ext uri="{FF2B5EF4-FFF2-40B4-BE49-F238E27FC236}">
                <a16:creationId xmlns:a16="http://schemas.microsoft.com/office/drawing/2014/main" id="{706C195D-BF95-DB71-A330-841489BCC083}"/>
              </a:ext>
            </a:extLst>
          </p:cNvPr>
          <p:cNvSpPr txBox="1"/>
          <p:nvPr/>
        </p:nvSpPr>
        <p:spPr>
          <a:xfrm>
            <a:off x="659816" y="1225622"/>
            <a:ext cx="10875692" cy="1200329"/>
          </a:xfrm>
          <a:prstGeom prst="rect">
            <a:avLst/>
          </a:prstGeom>
          <a:noFill/>
        </p:spPr>
        <p:txBody>
          <a:bodyPr wrap="square">
            <a:spAutoFit/>
          </a:bodyPr>
          <a:lstStyle/>
          <a:p>
            <a:pPr algn="l"/>
            <a:r>
              <a:rPr lang="en-US" sz="1800" b="0" i="0" u="none" strike="noStrike" baseline="0" dirty="0">
                <a:latin typeface="MinionPro-Regular"/>
              </a:rPr>
              <a:t>We will be writing unit tests for the </a:t>
            </a:r>
            <a:r>
              <a:rPr lang="en-US" b="1" i="0" u="none" strike="noStrike" baseline="0" dirty="0" err="1">
                <a:latin typeface="CourierStd"/>
              </a:rPr>
              <a:t>RestaurantsViewModel</a:t>
            </a:r>
            <a:r>
              <a:rPr lang="en-US" sz="1400" b="0" i="0" u="none" strike="noStrike" baseline="0" dirty="0">
                <a:latin typeface="CourierStd"/>
              </a:rPr>
              <a:t> </a:t>
            </a:r>
            <a:r>
              <a:rPr lang="en-US" sz="1800" b="0" i="0" u="none" strike="noStrike" baseline="0" dirty="0">
                <a:latin typeface="MinionPro-Regular"/>
              </a:rPr>
              <a:t>class. </a:t>
            </a:r>
          </a:p>
          <a:p>
            <a:pPr algn="l"/>
            <a:endParaRPr lang="en-US" dirty="0">
              <a:latin typeface="MinionPro-Regular"/>
            </a:endParaRPr>
          </a:p>
          <a:p>
            <a:pPr algn="l"/>
            <a:r>
              <a:rPr lang="en-US" sz="1800" b="0" i="0" u="none" strike="noStrike" baseline="0" dirty="0">
                <a:latin typeface="MinionPro-Regular"/>
              </a:rPr>
              <a:t>Since th</a:t>
            </a:r>
            <a:r>
              <a:rPr lang="en-US" dirty="0">
                <a:latin typeface="MinionPro-Regular"/>
              </a:rPr>
              <a:t>is</a:t>
            </a:r>
            <a:r>
              <a:rPr lang="en-US" sz="1800" b="0" i="0" u="none" strike="noStrike" baseline="0" dirty="0">
                <a:latin typeface="MinionPro-Regular"/>
              </a:rPr>
              <a:t> component doesn't interact directly with the UI, its unit tests will run directly on your local workstation's </a:t>
            </a:r>
            <a:r>
              <a:rPr lang="en-US" sz="1800" b="1" i="0" u="none" strike="noStrike" baseline="0" dirty="0">
                <a:latin typeface="MinionPro-Bold"/>
              </a:rPr>
              <a:t>Java Virtual Machine </a:t>
            </a:r>
            <a:r>
              <a:rPr lang="en-US" sz="1800" b="0" i="0" u="none" strike="noStrike" baseline="0" dirty="0">
                <a:latin typeface="MinionPro-Regular"/>
              </a:rPr>
              <a:t>(</a:t>
            </a:r>
            <a:r>
              <a:rPr lang="en-US" sz="1800" b="1" i="0" u="none" strike="noStrike" baseline="0" dirty="0">
                <a:latin typeface="MinionPro-Bold"/>
              </a:rPr>
              <a:t>JVM</a:t>
            </a:r>
            <a:r>
              <a:rPr lang="en-US" sz="1800" b="0" i="0" u="none" strike="noStrike" baseline="0" dirty="0">
                <a:latin typeface="MinionPro-Regular"/>
              </a:rPr>
              <a:t>), rather than running on an Android device, as our UI tests did.</a:t>
            </a:r>
            <a:endParaRPr lang="en-US" dirty="0"/>
          </a:p>
        </p:txBody>
      </p:sp>
      <p:pic>
        <p:nvPicPr>
          <p:cNvPr id="8" name="Рисунок 7">
            <a:extLst>
              <a:ext uri="{FF2B5EF4-FFF2-40B4-BE49-F238E27FC236}">
                <a16:creationId xmlns:a16="http://schemas.microsoft.com/office/drawing/2014/main" id="{3D7CA35A-8B5D-A322-57D1-7D4B58905094}"/>
              </a:ext>
            </a:extLst>
          </p:cNvPr>
          <p:cNvPicPr>
            <a:picLocks noChangeAspect="1"/>
          </p:cNvPicPr>
          <p:nvPr/>
        </p:nvPicPr>
        <p:blipFill>
          <a:blip r:embed="rId2"/>
          <a:stretch>
            <a:fillRect/>
          </a:stretch>
        </p:blipFill>
        <p:spPr>
          <a:xfrm>
            <a:off x="2852285" y="3429000"/>
            <a:ext cx="6487430" cy="2943636"/>
          </a:xfrm>
          <a:prstGeom prst="rect">
            <a:avLst/>
          </a:prstGeom>
        </p:spPr>
      </p:pic>
      <p:sp>
        <p:nvSpPr>
          <p:cNvPr id="11" name="TextBox 10">
            <a:extLst>
              <a:ext uri="{FF2B5EF4-FFF2-40B4-BE49-F238E27FC236}">
                <a16:creationId xmlns:a16="http://schemas.microsoft.com/office/drawing/2014/main" id="{A0D7329B-A3ED-4194-E787-634BE4FED38E}"/>
              </a:ext>
            </a:extLst>
          </p:cNvPr>
          <p:cNvSpPr txBox="1"/>
          <p:nvPr/>
        </p:nvSpPr>
        <p:spPr>
          <a:xfrm>
            <a:off x="659816" y="2984472"/>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spTree>
    <p:extLst>
      <p:ext uri="{BB962C8B-B14F-4D97-AF65-F5344CB8AC3E}">
        <p14:creationId xmlns:p14="http://schemas.microsoft.com/office/powerpoint/2010/main" val="2996239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5" name="Рисунок 4">
            <a:extLst>
              <a:ext uri="{FF2B5EF4-FFF2-40B4-BE49-F238E27FC236}">
                <a16:creationId xmlns:a16="http://schemas.microsoft.com/office/drawing/2014/main" id="{50244698-5846-607C-4DD2-4CB5E54AE167}"/>
              </a:ext>
            </a:extLst>
          </p:cNvPr>
          <p:cNvPicPr>
            <a:picLocks noChangeAspect="1"/>
          </p:cNvPicPr>
          <p:nvPr/>
        </p:nvPicPr>
        <p:blipFill>
          <a:blip r:embed="rId2"/>
          <a:stretch>
            <a:fillRect/>
          </a:stretch>
        </p:blipFill>
        <p:spPr>
          <a:xfrm>
            <a:off x="3260948" y="1162738"/>
            <a:ext cx="5328063" cy="818260"/>
          </a:xfrm>
          <a:prstGeom prst="rect">
            <a:avLst/>
          </a:prstGeom>
        </p:spPr>
      </p:pic>
      <p:pic>
        <p:nvPicPr>
          <p:cNvPr id="7" name="Рисунок 6">
            <a:extLst>
              <a:ext uri="{FF2B5EF4-FFF2-40B4-BE49-F238E27FC236}">
                <a16:creationId xmlns:a16="http://schemas.microsoft.com/office/drawing/2014/main" id="{F65E917C-32CD-5DE8-4475-F269A3622FD0}"/>
              </a:ext>
            </a:extLst>
          </p:cNvPr>
          <p:cNvPicPr>
            <a:picLocks noChangeAspect="1"/>
          </p:cNvPicPr>
          <p:nvPr/>
        </p:nvPicPr>
        <p:blipFill>
          <a:blip r:embed="rId3"/>
          <a:stretch>
            <a:fillRect/>
          </a:stretch>
        </p:blipFill>
        <p:spPr>
          <a:xfrm>
            <a:off x="3260949" y="1969298"/>
            <a:ext cx="5328063" cy="4677689"/>
          </a:xfrm>
          <a:prstGeom prst="rect">
            <a:avLst/>
          </a:prstGeom>
        </p:spPr>
      </p:pic>
    </p:spTree>
    <p:extLst>
      <p:ext uri="{BB962C8B-B14F-4D97-AF65-F5344CB8AC3E}">
        <p14:creationId xmlns:p14="http://schemas.microsoft.com/office/powerpoint/2010/main" val="42466362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sp>
        <p:nvSpPr>
          <p:cNvPr id="4" name="TextBox 3">
            <a:extLst>
              <a:ext uri="{FF2B5EF4-FFF2-40B4-BE49-F238E27FC236}">
                <a16:creationId xmlns:a16="http://schemas.microsoft.com/office/drawing/2014/main" id="{8013F8F4-0C50-A88B-3E3E-A7A800FB4389}"/>
              </a:ext>
            </a:extLst>
          </p:cNvPr>
          <p:cNvSpPr txBox="1"/>
          <p:nvPr/>
        </p:nvSpPr>
        <p:spPr>
          <a:xfrm>
            <a:off x="659816" y="1295246"/>
            <a:ext cx="9984737" cy="2677656"/>
          </a:xfrm>
          <a:prstGeom prst="rect">
            <a:avLst/>
          </a:prstGeom>
          <a:noFill/>
        </p:spPr>
        <p:txBody>
          <a:bodyPr wrap="square">
            <a:spAutoFit/>
          </a:bodyPr>
          <a:lstStyle/>
          <a:p>
            <a:pPr algn="l"/>
            <a:r>
              <a:rPr lang="en-US" sz="2000" b="1" i="0" u="none" strike="noStrike" baseline="0" dirty="0">
                <a:latin typeface="MinionPro-Bold"/>
              </a:rPr>
              <a:t>Initial loading state</a:t>
            </a:r>
            <a:r>
              <a:rPr lang="en-US" sz="1800" b="0" i="0" u="none" strike="noStrike" baseline="0" dirty="0">
                <a:latin typeface="MinionPro-Regular"/>
              </a:rPr>
              <a:t>: At this point, we're waiting for restaurants, thus rendering a loading status. </a:t>
            </a:r>
          </a:p>
          <a:p>
            <a:pPr algn="l"/>
            <a:endParaRPr lang="en-US" dirty="0">
              <a:latin typeface="MinionPro-Regular"/>
            </a:endParaRPr>
          </a:p>
          <a:p>
            <a:pPr algn="l"/>
            <a:r>
              <a:rPr lang="en-US" sz="1800" b="1" i="0" u="none" strike="noStrike" baseline="0" dirty="0">
                <a:latin typeface="MinionPro-Bold"/>
              </a:rPr>
              <a:t>State with content</a:t>
            </a:r>
            <a:r>
              <a:rPr lang="en-US" sz="1800" b="1" i="0" u="none" strike="noStrike" baseline="0" dirty="0">
                <a:latin typeface="MinionPro-Regular"/>
              </a:rPr>
              <a:t>: </a:t>
            </a:r>
            <a:r>
              <a:rPr lang="en-US" sz="1800" b="0" i="0" u="none" strike="noStrike" baseline="0" dirty="0">
                <a:latin typeface="MinionPro-Regular"/>
              </a:rPr>
              <a:t>The restaurants have arrived. This state is produced inside the coroutine launched in the </a:t>
            </a:r>
            <a:r>
              <a:rPr lang="en-US" sz="1400" b="0" i="0" u="none" strike="noStrike" baseline="0" dirty="0" err="1">
                <a:latin typeface="CourierStd"/>
              </a:rPr>
              <a:t>getRestaurants</a:t>
            </a:r>
            <a:r>
              <a:rPr lang="en-US" sz="1400" b="0" i="0" u="none" strike="noStrike" baseline="0" dirty="0">
                <a:latin typeface="CourierStd"/>
              </a:rPr>
              <a:t>() </a:t>
            </a:r>
            <a:r>
              <a:rPr lang="en-US" sz="1800" b="0" i="0" u="none" strike="noStrike" baseline="0" dirty="0">
                <a:latin typeface="MinionPro-Regular"/>
              </a:rPr>
              <a:t>method, where we mutated the initial state and set the </a:t>
            </a:r>
            <a:r>
              <a:rPr lang="en-US" sz="1400" b="0" i="0" u="none" strike="noStrike" baseline="0" dirty="0" err="1">
                <a:latin typeface="CourierStd"/>
              </a:rPr>
              <a:t>isLoading</a:t>
            </a:r>
            <a:r>
              <a:rPr lang="en-US" sz="1400" b="0" i="0" u="none" strike="noStrike" baseline="0" dirty="0">
                <a:latin typeface="CourierStd"/>
              </a:rPr>
              <a:t> </a:t>
            </a:r>
            <a:r>
              <a:rPr lang="en-US" sz="1800" b="0" i="0" u="none" strike="noStrike" baseline="0" dirty="0">
                <a:latin typeface="MinionPro-Regular"/>
              </a:rPr>
              <a:t>parameter to </a:t>
            </a:r>
            <a:r>
              <a:rPr lang="en-US" sz="1400" b="0" i="0" u="none" strike="noStrike" baseline="0" dirty="0">
                <a:latin typeface="CourierStd"/>
              </a:rPr>
              <a:t>false </a:t>
            </a:r>
            <a:r>
              <a:rPr lang="en-US" sz="1800" b="0" i="0" u="none" strike="noStrike" baseline="0" dirty="0">
                <a:latin typeface="MinionPro-Regular"/>
              </a:rPr>
              <a:t>while also passing the list of restaurants to the </a:t>
            </a:r>
            <a:r>
              <a:rPr lang="en-US" sz="1400" b="0" i="0" u="none" strike="noStrike" baseline="0" dirty="0">
                <a:latin typeface="CourierStd"/>
              </a:rPr>
              <a:t>restaurants </a:t>
            </a:r>
            <a:r>
              <a:rPr lang="en-US" sz="1800" b="0" i="0" u="none" strike="noStrike" baseline="0" dirty="0">
                <a:latin typeface="MinionPro-Regular"/>
              </a:rPr>
              <a:t>parameter.</a:t>
            </a:r>
          </a:p>
          <a:p>
            <a:pPr algn="l"/>
            <a:endParaRPr lang="en-US" sz="2000" b="0" i="0" u="none" strike="noStrike" baseline="0" dirty="0">
              <a:latin typeface="Wingdings2"/>
            </a:endParaRPr>
          </a:p>
          <a:p>
            <a:pPr algn="l"/>
            <a:r>
              <a:rPr lang="en-US" sz="2000" b="1" i="0" u="none" strike="noStrike" baseline="0" dirty="0">
                <a:latin typeface="MinionPro-Bold"/>
              </a:rPr>
              <a:t>Error state</a:t>
            </a:r>
            <a:r>
              <a:rPr lang="en-US" sz="2000" dirty="0">
                <a:latin typeface="Wingdings2"/>
              </a:rPr>
              <a:t>: </a:t>
            </a:r>
            <a:r>
              <a:rPr lang="en-US" sz="1800" b="0" i="0" u="none" strike="noStrike" baseline="0" dirty="0">
                <a:latin typeface="MinionPro-Regular"/>
              </a:rPr>
              <a:t>Something went wrong when the app tried to fetch its content. You can see how this state is created inside </a:t>
            </a:r>
            <a:r>
              <a:rPr lang="en-US" sz="1400" b="0" i="0" u="none" strike="noStrike" baseline="0" dirty="0" err="1">
                <a:latin typeface="CourierStd"/>
              </a:rPr>
              <a:t>CoroutineExceptionHandler</a:t>
            </a:r>
            <a:r>
              <a:rPr lang="en-US" sz="1800" b="0" i="0" u="none" strike="noStrike" baseline="0" dirty="0">
                <a:latin typeface="MinionPro-Regular"/>
              </a:rPr>
              <a:t>, where the </a:t>
            </a:r>
            <a:r>
              <a:rPr lang="en-US" sz="1400" b="0" i="0" u="none" strike="noStrike" baseline="0" dirty="0" err="1">
                <a:latin typeface="CourierStd"/>
              </a:rPr>
              <a:t>isLoading</a:t>
            </a:r>
            <a:r>
              <a:rPr lang="en-US" sz="1400" b="0" i="0" u="none" strike="noStrike" baseline="0" dirty="0">
                <a:latin typeface="CourierStd"/>
              </a:rPr>
              <a:t> </a:t>
            </a:r>
            <a:r>
              <a:rPr lang="en-US" sz="1800" b="0" i="0" u="none" strike="noStrike" baseline="0" dirty="0">
                <a:latin typeface="MinionPro-Regular"/>
              </a:rPr>
              <a:t>parameter is set to </a:t>
            </a:r>
            <a:r>
              <a:rPr lang="en-US" sz="1400" b="0" i="0" u="none" strike="noStrike" baseline="0" dirty="0">
                <a:latin typeface="CourierStd"/>
              </a:rPr>
              <a:t>false </a:t>
            </a:r>
            <a:r>
              <a:rPr lang="en-US" sz="1800" b="0" i="0" u="none" strike="noStrike" baseline="0" dirty="0">
                <a:latin typeface="MinionPro-Regular"/>
              </a:rPr>
              <a:t>to reset the loading status while also passing the message of </a:t>
            </a:r>
            <a:r>
              <a:rPr lang="en-US" sz="1400" b="0" i="0" u="none" strike="noStrike" baseline="0" dirty="0">
                <a:latin typeface="CourierStd"/>
              </a:rPr>
              <a:t>Exception </a:t>
            </a:r>
            <a:r>
              <a:rPr lang="en-US" sz="1800" b="0" i="0" u="none" strike="noStrike" baseline="0" dirty="0">
                <a:latin typeface="MinionPro-Regular"/>
              </a:rPr>
              <a:t>to the </a:t>
            </a:r>
            <a:r>
              <a:rPr lang="en-US" sz="1400" b="0" i="0" u="none" strike="noStrike" baseline="0" dirty="0">
                <a:latin typeface="CourierStd"/>
              </a:rPr>
              <a:t>error </a:t>
            </a:r>
            <a:r>
              <a:rPr lang="en-US" sz="1800" b="0" i="0" u="none" strike="noStrike" baseline="0" dirty="0">
                <a:latin typeface="MinionPro-Regular"/>
              </a:rPr>
              <a:t>parameter.</a:t>
            </a:r>
            <a:endParaRPr lang="en-US" dirty="0"/>
          </a:p>
        </p:txBody>
      </p:sp>
      <p:pic>
        <p:nvPicPr>
          <p:cNvPr id="8" name="Рисунок 7">
            <a:extLst>
              <a:ext uri="{FF2B5EF4-FFF2-40B4-BE49-F238E27FC236}">
                <a16:creationId xmlns:a16="http://schemas.microsoft.com/office/drawing/2014/main" id="{C5B535A8-9FF1-0C30-AE7B-05B16EF773A4}"/>
              </a:ext>
            </a:extLst>
          </p:cNvPr>
          <p:cNvPicPr>
            <a:picLocks noChangeAspect="1"/>
          </p:cNvPicPr>
          <p:nvPr/>
        </p:nvPicPr>
        <p:blipFill>
          <a:blip r:embed="rId2"/>
          <a:stretch>
            <a:fillRect/>
          </a:stretch>
        </p:blipFill>
        <p:spPr>
          <a:xfrm>
            <a:off x="2018731" y="4061591"/>
            <a:ext cx="8154538" cy="1267002"/>
          </a:xfrm>
          <a:prstGeom prst="rect">
            <a:avLst/>
          </a:prstGeom>
        </p:spPr>
      </p:pic>
      <p:pic>
        <p:nvPicPr>
          <p:cNvPr id="10" name="Рисунок 9">
            <a:extLst>
              <a:ext uri="{FF2B5EF4-FFF2-40B4-BE49-F238E27FC236}">
                <a16:creationId xmlns:a16="http://schemas.microsoft.com/office/drawing/2014/main" id="{936A1F27-AB17-D8A7-EC1F-AB1B522A1DF9}"/>
              </a:ext>
            </a:extLst>
          </p:cNvPr>
          <p:cNvPicPr>
            <a:picLocks noChangeAspect="1"/>
          </p:cNvPicPr>
          <p:nvPr/>
        </p:nvPicPr>
        <p:blipFill>
          <a:blip r:embed="rId3"/>
          <a:stretch>
            <a:fillRect/>
          </a:stretch>
        </p:blipFill>
        <p:spPr>
          <a:xfrm>
            <a:off x="2018731" y="5417282"/>
            <a:ext cx="8135485" cy="981212"/>
          </a:xfrm>
          <a:prstGeom prst="rect">
            <a:avLst/>
          </a:prstGeom>
        </p:spPr>
      </p:pic>
    </p:spTree>
    <p:extLst>
      <p:ext uri="{BB962C8B-B14F-4D97-AF65-F5344CB8AC3E}">
        <p14:creationId xmlns:p14="http://schemas.microsoft.com/office/powerpoint/2010/main" val="3885104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5" name="Рисунок 4">
            <a:extLst>
              <a:ext uri="{FF2B5EF4-FFF2-40B4-BE49-F238E27FC236}">
                <a16:creationId xmlns:a16="http://schemas.microsoft.com/office/drawing/2014/main" id="{959B0101-09CE-6B6B-4327-1194D94B39CC}"/>
              </a:ext>
            </a:extLst>
          </p:cNvPr>
          <p:cNvPicPr>
            <a:picLocks noChangeAspect="1"/>
          </p:cNvPicPr>
          <p:nvPr/>
        </p:nvPicPr>
        <p:blipFill>
          <a:blip r:embed="rId2"/>
          <a:stretch>
            <a:fillRect/>
          </a:stretch>
        </p:blipFill>
        <p:spPr>
          <a:xfrm>
            <a:off x="875571" y="1178937"/>
            <a:ext cx="10440857" cy="4734586"/>
          </a:xfrm>
          <a:prstGeom prst="rect">
            <a:avLst/>
          </a:prstGeom>
        </p:spPr>
      </p:pic>
      <p:sp>
        <p:nvSpPr>
          <p:cNvPr id="7" name="TextBox 6">
            <a:extLst>
              <a:ext uri="{FF2B5EF4-FFF2-40B4-BE49-F238E27FC236}">
                <a16:creationId xmlns:a16="http://schemas.microsoft.com/office/drawing/2014/main" id="{79C71FD3-DF6E-3344-024F-978E4E72DB72}"/>
              </a:ext>
            </a:extLst>
          </p:cNvPr>
          <p:cNvSpPr txBox="1"/>
          <p:nvPr/>
        </p:nvSpPr>
        <p:spPr>
          <a:xfrm>
            <a:off x="2246921" y="6109184"/>
            <a:ext cx="7698155" cy="369332"/>
          </a:xfrm>
          <a:prstGeom prst="rect">
            <a:avLst/>
          </a:prstGeom>
          <a:noFill/>
        </p:spPr>
        <p:txBody>
          <a:bodyPr wrap="square">
            <a:spAutoFit/>
          </a:bodyPr>
          <a:lstStyle/>
          <a:p>
            <a:pPr algn="ctr"/>
            <a:r>
              <a:rPr lang="en-US" sz="1800" b="0" i="0" u="none" strike="noStrike" baseline="0" dirty="0">
                <a:latin typeface="MinionPro-Regular"/>
              </a:rPr>
              <a:t>Observing the direct and transitive dependencies of </a:t>
            </a:r>
            <a:r>
              <a:rPr lang="en-US" sz="1800" b="0" i="0" u="none" strike="noStrike" baseline="0" dirty="0" err="1">
                <a:latin typeface="MinionPro-Regular"/>
              </a:rPr>
              <a:t>RestaurantsViewModel</a:t>
            </a:r>
            <a:endParaRPr lang="en-US" dirty="0"/>
          </a:p>
        </p:txBody>
      </p:sp>
    </p:spTree>
    <p:extLst>
      <p:ext uri="{BB962C8B-B14F-4D97-AF65-F5344CB8AC3E}">
        <p14:creationId xmlns:p14="http://schemas.microsoft.com/office/powerpoint/2010/main" val="18184553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4" name="Рисунок 3">
            <a:extLst>
              <a:ext uri="{FF2B5EF4-FFF2-40B4-BE49-F238E27FC236}">
                <a16:creationId xmlns:a16="http://schemas.microsoft.com/office/drawing/2014/main" id="{D635B918-B644-AE50-BFFE-CFDBCBC4EC77}"/>
              </a:ext>
            </a:extLst>
          </p:cNvPr>
          <p:cNvPicPr>
            <a:picLocks noChangeAspect="1"/>
          </p:cNvPicPr>
          <p:nvPr/>
        </p:nvPicPr>
        <p:blipFill>
          <a:blip r:embed="rId2"/>
          <a:stretch>
            <a:fillRect/>
          </a:stretch>
        </p:blipFill>
        <p:spPr>
          <a:xfrm>
            <a:off x="2271185" y="1014539"/>
            <a:ext cx="7649630" cy="2475967"/>
          </a:xfrm>
          <a:prstGeom prst="rect">
            <a:avLst/>
          </a:prstGeom>
        </p:spPr>
      </p:pic>
      <p:pic>
        <p:nvPicPr>
          <p:cNvPr id="8" name="Рисунок 7">
            <a:extLst>
              <a:ext uri="{FF2B5EF4-FFF2-40B4-BE49-F238E27FC236}">
                <a16:creationId xmlns:a16="http://schemas.microsoft.com/office/drawing/2014/main" id="{00417BB2-5A03-E2C6-7C67-8167699244D8}"/>
              </a:ext>
            </a:extLst>
          </p:cNvPr>
          <p:cNvPicPr>
            <a:picLocks noChangeAspect="1"/>
          </p:cNvPicPr>
          <p:nvPr/>
        </p:nvPicPr>
        <p:blipFill>
          <a:blip r:embed="rId3"/>
          <a:stretch>
            <a:fillRect/>
          </a:stretch>
        </p:blipFill>
        <p:spPr>
          <a:xfrm>
            <a:off x="2271184" y="3451432"/>
            <a:ext cx="7641815" cy="3358552"/>
          </a:xfrm>
          <a:prstGeom prst="rect">
            <a:avLst/>
          </a:prstGeom>
        </p:spPr>
      </p:pic>
    </p:spTree>
    <p:extLst>
      <p:ext uri="{BB962C8B-B14F-4D97-AF65-F5344CB8AC3E}">
        <p14:creationId xmlns:p14="http://schemas.microsoft.com/office/powerpoint/2010/main" val="2778353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5" name="Рисунок 4">
            <a:extLst>
              <a:ext uri="{FF2B5EF4-FFF2-40B4-BE49-F238E27FC236}">
                <a16:creationId xmlns:a16="http://schemas.microsoft.com/office/drawing/2014/main" id="{F79AA188-9089-5609-2FCB-59A4EC8B50BB}"/>
              </a:ext>
            </a:extLst>
          </p:cNvPr>
          <p:cNvPicPr>
            <a:picLocks noChangeAspect="1"/>
          </p:cNvPicPr>
          <p:nvPr/>
        </p:nvPicPr>
        <p:blipFill>
          <a:blip r:embed="rId2"/>
          <a:stretch>
            <a:fillRect/>
          </a:stretch>
        </p:blipFill>
        <p:spPr>
          <a:xfrm>
            <a:off x="1484968" y="1232261"/>
            <a:ext cx="9222063" cy="4652723"/>
          </a:xfrm>
          <a:prstGeom prst="rect">
            <a:avLst/>
          </a:prstGeom>
        </p:spPr>
      </p:pic>
      <p:sp>
        <p:nvSpPr>
          <p:cNvPr id="7" name="TextBox 6">
            <a:extLst>
              <a:ext uri="{FF2B5EF4-FFF2-40B4-BE49-F238E27FC236}">
                <a16:creationId xmlns:a16="http://schemas.microsoft.com/office/drawing/2014/main" id="{77BFE9EF-1633-9858-5AA9-E1D2476667A3}"/>
              </a:ext>
            </a:extLst>
          </p:cNvPr>
          <p:cNvSpPr txBox="1"/>
          <p:nvPr/>
        </p:nvSpPr>
        <p:spPr>
          <a:xfrm>
            <a:off x="2121876" y="5989349"/>
            <a:ext cx="7948246" cy="646331"/>
          </a:xfrm>
          <a:prstGeom prst="rect">
            <a:avLst/>
          </a:prstGeom>
          <a:noFill/>
        </p:spPr>
        <p:txBody>
          <a:bodyPr wrap="square">
            <a:spAutoFit/>
          </a:bodyPr>
          <a:lstStyle/>
          <a:p>
            <a:pPr algn="ctr"/>
            <a:r>
              <a:rPr lang="en-US" sz="1800" b="0" i="0" u="none" strike="noStrike" baseline="0" dirty="0">
                <a:latin typeface="MinionPro-Regular"/>
              </a:rPr>
              <a:t>Observing the real-world boundary crossed by the transitive dependencies of </a:t>
            </a:r>
            <a:r>
              <a:rPr lang="en-US" sz="1800" b="0" i="0" u="none" strike="noStrike" baseline="0" dirty="0" err="1">
                <a:latin typeface="MinionPro-Regular"/>
              </a:rPr>
              <a:t>RestaurantsViewModel</a:t>
            </a:r>
            <a:endParaRPr lang="en-US" dirty="0"/>
          </a:p>
        </p:txBody>
      </p:sp>
    </p:spTree>
    <p:extLst>
      <p:ext uri="{BB962C8B-B14F-4D97-AF65-F5344CB8AC3E}">
        <p14:creationId xmlns:p14="http://schemas.microsoft.com/office/powerpoint/2010/main" val="1918861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sp>
        <p:nvSpPr>
          <p:cNvPr id="4" name="TextBox 3">
            <a:extLst>
              <a:ext uri="{FF2B5EF4-FFF2-40B4-BE49-F238E27FC236}">
                <a16:creationId xmlns:a16="http://schemas.microsoft.com/office/drawing/2014/main" id="{8412F987-6097-85AF-797E-A8FA48018AF2}"/>
              </a:ext>
            </a:extLst>
          </p:cNvPr>
          <p:cNvSpPr txBox="1"/>
          <p:nvPr/>
        </p:nvSpPr>
        <p:spPr>
          <a:xfrm>
            <a:off x="659817" y="1295246"/>
            <a:ext cx="11008552" cy="369332"/>
          </a:xfrm>
          <a:prstGeom prst="rect">
            <a:avLst/>
          </a:prstGeom>
          <a:noFill/>
        </p:spPr>
        <p:txBody>
          <a:bodyPr wrap="square">
            <a:spAutoFit/>
          </a:bodyPr>
          <a:lstStyle/>
          <a:p>
            <a:pPr algn="l"/>
            <a:r>
              <a:rPr lang="en-US" dirty="0">
                <a:latin typeface="MinionPro-Regular"/>
              </a:rPr>
              <a:t>W</a:t>
            </a:r>
            <a:r>
              <a:rPr lang="en-US" sz="1800" b="0" i="0" u="none" strike="noStrike" baseline="0" dirty="0">
                <a:latin typeface="MinionPro-Regular"/>
              </a:rPr>
              <a:t>e will define dummy implementations for these interfaces that won't communicate with the real world.</a:t>
            </a:r>
            <a:endParaRPr lang="en-US" dirty="0"/>
          </a:p>
        </p:txBody>
      </p:sp>
      <p:sp>
        <p:nvSpPr>
          <p:cNvPr id="8" name="TextBox 7">
            <a:extLst>
              <a:ext uri="{FF2B5EF4-FFF2-40B4-BE49-F238E27FC236}">
                <a16:creationId xmlns:a16="http://schemas.microsoft.com/office/drawing/2014/main" id="{1A76DC95-7761-A08B-83EF-2067437700C3}"/>
              </a:ext>
            </a:extLst>
          </p:cNvPr>
          <p:cNvSpPr txBox="1"/>
          <p:nvPr/>
        </p:nvSpPr>
        <p:spPr>
          <a:xfrm>
            <a:off x="659817" y="1627983"/>
            <a:ext cx="9914398" cy="646331"/>
          </a:xfrm>
          <a:prstGeom prst="rect">
            <a:avLst/>
          </a:prstGeom>
          <a:noFill/>
        </p:spPr>
        <p:txBody>
          <a:bodyPr wrap="square">
            <a:spAutoFit/>
          </a:bodyPr>
          <a:lstStyle/>
          <a:p>
            <a:pPr algn="l"/>
            <a:r>
              <a:rPr lang="en-US" sz="1800" b="0" i="0" u="none" strike="noStrike" baseline="0" dirty="0">
                <a:latin typeface="MinionPro-Regular"/>
              </a:rPr>
              <a:t>These dummy implementations are often called </a:t>
            </a:r>
            <a:r>
              <a:rPr lang="en-US" sz="1800" b="1" i="0" u="none" strike="noStrike" baseline="0" dirty="0">
                <a:latin typeface="MinionPro-Regular"/>
              </a:rPr>
              <a:t>fakes</a:t>
            </a:r>
            <a:r>
              <a:rPr lang="en-US" sz="1800" b="0" i="0" u="none" strike="noStrike" baseline="0" dirty="0">
                <a:latin typeface="MinionPro-Regular"/>
              </a:rPr>
              <a:t>. </a:t>
            </a:r>
          </a:p>
          <a:p>
            <a:pPr algn="l"/>
            <a:r>
              <a:rPr lang="en-US" sz="1800" b="1" i="0" u="none" strike="noStrike" baseline="0" dirty="0">
                <a:latin typeface="MinionPro-Bold"/>
              </a:rPr>
              <a:t>Fakes </a:t>
            </a:r>
            <a:r>
              <a:rPr lang="en-US" sz="1800" b="0" i="0" u="none" strike="noStrike" baseline="0" dirty="0">
                <a:latin typeface="MinionPro-Regular"/>
              </a:rPr>
              <a:t>are simplified implementations of the interfaces that we're looking to interact with in our tests.</a:t>
            </a:r>
            <a:endParaRPr lang="en-US" dirty="0"/>
          </a:p>
        </p:txBody>
      </p:sp>
      <p:sp>
        <p:nvSpPr>
          <p:cNvPr id="10" name="TextBox 9">
            <a:extLst>
              <a:ext uri="{FF2B5EF4-FFF2-40B4-BE49-F238E27FC236}">
                <a16:creationId xmlns:a16="http://schemas.microsoft.com/office/drawing/2014/main" id="{372E1B1F-FD45-B1A9-077B-B71562E446A1}"/>
              </a:ext>
            </a:extLst>
          </p:cNvPr>
          <p:cNvSpPr txBox="1"/>
          <p:nvPr/>
        </p:nvSpPr>
        <p:spPr>
          <a:xfrm>
            <a:off x="659816" y="2228671"/>
            <a:ext cx="10539629" cy="646331"/>
          </a:xfrm>
          <a:prstGeom prst="rect">
            <a:avLst/>
          </a:prstGeom>
          <a:noFill/>
        </p:spPr>
        <p:txBody>
          <a:bodyPr wrap="square">
            <a:spAutoFit/>
          </a:bodyPr>
          <a:lstStyle/>
          <a:p>
            <a:pPr algn="l"/>
            <a:r>
              <a:rPr lang="en-US" sz="1800" b="1" i="0" u="none" strike="noStrike" baseline="0" dirty="0">
                <a:latin typeface="MinionPro-Bold"/>
              </a:rPr>
              <a:t>Mocks </a:t>
            </a:r>
            <a:r>
              <a:rPr lang="en-US" sz="1800" b="0" i="0" u="none" strike="noStrike" baseline="0" dirty="0">
                <a:latin typeface="MinionPro-Regular"/>
              </a:rPr>
              <a:t>are objects that also simulate the behavior of a real object; however, you can configure their output on the fly without any additional classes.</a:t>
            </a:r>
            <a:endParaRPr lang="en-US" dirty="0"/>
          </a:p>
        </p:txBody>
      </p:sp>
      <p:pic>
        <p:nvPicPr>
          <p:cNvPr id="13" name="Рисунок 12">
            <a:extLst>
              <a:ext uri="{FF2B5EF4-FFF2-40B4-BE49-F238E27FC236}">
                <a16:creationId xmlns:a16="http://schemas.microsoft.com/office/drawing/2014/main" id="{85ABEDB9-4C0E-1E59-BCF3-E8D159EFE287}"/>
              </a:ext>
            </a:extLst>
          </p:cNvPr>
          <p:cNvPicPr>
            <a:picLocks noChangeAspect="1"/>
          </p:cNvPicPr>
          <p:nvPr/>
        </p:nvPicPr>
        <p:blipFill>
          <a:blip r:embed="rId2"/>
          <a:stretch>
            <a:fillRect/>
          </a:stretch>
        </p:blipFill>
        <p:spPr>
          <a:xfrm>
            <a:off x="2400994" y="2976476"/>
            <a:ext cx="7390011" cy="3555504"/>
          </a:xfrm>
          <a:prstGeom prst="rect">
            <a:avLst/>
          </a:prstGeom>
        </p:spPr>
      </p:pic>
    </p:spTree>
    <p:extLst>
      <p:ext uri="{BB962C8B-B14F-4D97-AF65-F5344CB8AC3E}">
        <p14:creationId xmlns:p14="http://schemas.microsoft.com/office/powerpoint/2010/main" val="38288683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5" name="Рисунок 4">
            <a:extLst>
              <a:ext uri="{FF2B5EF4-FFF2-40B4-BE49-F238E27FC236}">
                <a16:creationId xmlns:a16="http://schemas.microsoft.com/office/drawing/2014/main" id="{D9094172-9856-D3E7-BCD6-3E5A6DB49157}"/>
              </a:ext>
            </a:extLst>
          </p:cNvPr>
          <p:cNvPicPr>
            <a:picLocks noChangeAspect="1"/>
          </p:cNvPicPr>
          <p:nvPr/>
        </p:nvPicPr>
        <p:blipFill>
          <a:blip r:embed="rId2"/>
          <a:stretch>
            <a:fillRect/>
          </a:stretch>
        </p:blipFill>
        <p:spPr>
          <a:xfrm>
            <a:off x="148089" y="2220168"/>
            <a:ext cx="5778500" cy="2531586"/>
          </a:xfrm>
          <a:prstGeom prst="rect">
            <a:avLst/>
          </a:prstGeom>
        </p:spPr>
      </p:pic>
      <p:pic>
        <p:nvPicPr>
          <p:cNvPr id="7" name="Рисунок 6">
            <a:extLst>
              <a:ext uri="{FF2B5EF4-FFF2-40B4-BE49-F238E27FC236}">
                <a16:creationId xmlns:a16="http://schemas.microsoft.com/office/drawing/2014/main" id="{FFCB5538-CAD8-7A39-16EF-A72127703AC1}"/>
              </a:ext>
            </a:extLst>
          </p:cNvPr>
          <p:cNvPicPr>
            <a:picLocks noChangeAspect="1"/>
          </p:cNvPicPr>
          <p:nvPr/>
        </p:nvPicPr>
        <p:blipFill>
          <a:blip r:embed="rId3"/>
          <a:stretch>
            <a:fillRect/>
          </a:stretch>
        </p:blipFill>
        <p:spPr>
          <a:xfrm>
            <a:off x="6096000" y="1432368"/>
            <a:ext cx="5983312" cy="3577293"/>
          </a:xfrm>
          <a:prstGeom prst="rect">
            <a:avLst/>
          </a:prstGeom>
        </p:spPr>
      </p:pic>
    </p:spTree>
    <p:extLst>
      <p:ext uri="{BB962C8B-B14F-4D97-AF65-F5344CB8AC3E}">
        <p14:creationId xmlns:p14="http://schemas.microsoft.com/office/powerpoint/2010/main" val="28624867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4" name="Рисунок 3">
            <a:extLst>
              <a:ext uri="{FF2B5EF4-FFF2-40B4-BE49-F238E27FC236}">
                <a16:creationId xmlns:a16="http://schemas.microsoft.com/office/drawing/2014/main" id="{FDA2878C-C153-99C3-0442-B531E44BE58E}"/>
              </a:ext>
            </a:extLst>
          </p:cNvPr>
          <p:cNvPicPr>
            <a:picLocks noChangeAspect="1"/>
          </p:cNvPicPr>
          <p:nvPr/>
        </p:nvPicPr>
        <p:blipFill>
          <a:blip r:embed="rId2"/>
          <a:stretch>
            <a:fillRect/>
          </a:stretch>
        </p:blipFill>
        <p:spPr>
          <a:xfrm>
            <a:off x="2283446" y="1069245"/>
            <a:ext cx="7625108" cy="1830908"/>
          </a:xfrm>
          <a:prstGeom prst="rect">
            <a:avLst/>
          </a:prstGeom>
        </p:spPr>
      </p:pic>
      <p:pic>
        <p:nvPicPr>
          <p:cNvPr id="8" name="Рисунок 7">
            <a:extLst>
              <a:ext uri="{FF2B5EF4-FFF2-40B4-BE49-F238E27FC236}">
                <a16:creationId xmlns:a16="http://schemas.microsoft.com/office/drawing/2014/main" id="{9F90EB8A-298C-579F-2B4D-B795EAA0B98E}"/>
              </a:ext>
            </a:extLst>
          </p:cNvPr>
          <p:cNvPicPr>
            <a:picLocks noChangeAspect="1"/>
          </p:cNvPicPr>
          <p:nvPr/>
        </p:nvPicPr>
        <p:blipFill>
          <a:blip r:embed="rId3"/>
          <a:stretch>
            <a:fillRect/>
          </a:stretch>
        </p:blipFill>
        <p:spPr>
          <a:xfrm>
            <a:off x="2283446" y="3300263"/>
            <a:ext cx="7609257" cy="3345133"/>
          </a:xfrm>
          <a:prstGeom prst="rect">
            <a:avLst/>
          </a:prstGeom>
        </p:spPr>
      </p:pic>
    </p:spTree>
    <p:extLst>
      <p:ext uri="{BB962C8B-B14F-4D97-AF65-F5344CB8AC3E}">
        <p14:creationId xmlns:p14="http://schemas.microsoft.com/office/powerpoint/2010/main" val="4083396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5" name="Рисунок 4">
            <a:extLst>
              <a:ext uri="{FF2B5EF4-FFF2-40B4-BE49-F238E27FC236}">
                <a16:creationId xmlns:a16="http://schemas.microsoft.com/office/drawing/2014/main" id="{BF302C00-78AC-A7E7-B9D2-74B016E4C970}"/>
              </a:ext>
            </a:extLst>
          </p:cNvPr>
          <p:cNvPicPr>
            <a:picLocks noChangeAspect="1"/>
          </p:cNvPicPr>
          <p:nvPr/>
        </p:nvPicPr>
        <p:blipFill>
          <a:blip r:embed="rId2"/>
          <a:stretch>
            <a:fillRect/>
          </a:stretch>
        </p:blipFill>
        <p:spPr>
          <a:xfrm>
            <a:off x="818413" y="1308923"/>
            <a:ext cx="10555173" cy="1428949"/>
          </a:xfrm>
          <a:prstGeom prst="rect">
            <a:avLst/>
          </a:prstGeom>
        </p:spPr>
      </p:pic>
      <p:sp>
        <p:nvSpPr>
          <p:cNvPr id="7" name="TextBox 6">
            <a:extLst>
              <a:ext uri="{FF2B5EF4-FFF2-40B4-BE49-F238E27FC236}">
                <a16:creationId xmlns:a16="http://schemas.microsoft.com/office/drawing/2014/main" id="{B9B49C57-C6A4-DA5D-404F-6F5B35DC1858}"/>
              </a:ext>
            </a:extLst>
          </p:cNvPr>
          <p:cNvSpPr txBox="1"/>
          <p:nvPr/>
        </p:nvSpPr>
        <p:spPr>
          <a:xfrm>
            <a:off x="818412" y="2977550"/>
            <a:ext cx="9896479" cy="646331"/>
          </a:xfrm>
          <a:prstGeom prst="rect">
            <a:avLst/>
          </a:prstGeom>
          <a:noFill/>
        </p:spPr>
        <p:txBody>
          <a:bodyPr wrap="square">
            <a:spAutoFit/>
          </a:bodyPr>
          <a:lstStyle/>
          <a:p>
            <a:pPr algn="l"/>
            <a:r>
              <a:rPr lang="en-US" sz="1800" b="0" i="0" u="none" strike="noStrike" baseline="0" dirty="0">
                <a:latin typeface="MinionPro-Regular"/>
              </a:rPr>
              <a:t>This exception is thrown because our Restaurants app handles asynchronous work with the help of coroutines, and our test code doesn't know how to interact with them.</a:t>
            </a:r>
            <a:endParaRPr lang="en-US" dirty="0"/>
          </a:p>
        </p:txBody>
      </p:sp>
      <p:pic>
        <p:nvPicPr>
          <p:cNvPr id="10" name="Рисунок 9">
            <a:extLst>
              <a:ext uri="{FF2B5EF4-FFF2-40B4-BE49-F238E27FC236}">
                <a16:creationId xmlns:a16="http://schemas.microsoft.com/office/drawing/2014/main" id="{EE43AB10-5503-0C22-8E4C-91D35B374B46}"/>
              </a:ext>
            </a:extLst>
          </p:cNvPr>
          <p:cNvPicPr>
            <a:picLocks noChangeAspect="1"/>
          </p:cNvPicPr>
          <p:nvPr/>
        </p:nvPicPr>
        <p:blipFill>
          <a:blip r:embed="rId3"/>
          <a:stretch>
            <a:fillRect/>
          </a:stretch>
        </p:blipFill>
        <p:spPr>
          <a:xfrm>
            <a:off x="1892138" y="3863559"/>
            <a:ext cx="8407722" cy="2014604"/>
          </a:xfrm>
          <a:prstGeom prst="rect">
            <a:avLst/>
          </a:prstGeom>
        </p:spPr>
      </p:pic>
    </p:spTree>
    <p:extLst>
      <p:ext uri="{BB962C8B-B14F-4D97-AF65-F5344CB8AC3E}">
        <p14:creationId xmlns:p14="http://schemas.microsoft.com/office/powerpoint/2010/main" val="27586762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4" name="Рисунок 3">
            <a:extLst>
              <a:ext uri="{FF2B5EF4-FFF2-40B4-BE49-F238E27FC236}">
                <a16:creationId xmlns:a16="http://schemas.microsoft.com/office/drawing/2014/main" id="{76BC6984-B0DB-7AD1-9B35-C4AEA513D53A}"/>
              </a:ext>
            </a:extLst>
          </p:cNvPr>
          <p:cNvPicPr>
            <a:picLocks noChangeAspect="1"/>
          </p:cNvPicPr>
          <p:nvPr/>
        </p:nvPicPr>
        <p:blipFill>
          <a:blip r:embed="rId2"/>
          <a:stretch>
            <a:fillRect/>
          </a:stretch>
        </p:blipFill>
        <p:spPr>
          <a:xfrm>
            <a:off x="2171966" y="1222358"/>
            <a:ext cx="7848067" cy="2512292"/>
          </a:xfrm>
          <a:prstGeom prst="rect">
            <a:avLst/>
          </a:prstGeom>
        </p:spPr>
      </p:pic>
      <p:pic>
        <p:nvPicPr>
          <p:cNvPr id="8" name="Рисунок 7">
            <a:extLst>
              <a:ext uri="{FF2B5EF4-FFF2-40B4-BE49-F238E27FC236}">
                <a16:creationId xmlns:a16="http://schemas.microsoft.com/office/drawing/2014/main" id="{87D0DAFC-8DF0-BE87-E3D5-C52EE597653B}"/>
              </a:ext>
            </a:extLst>
          </p:cNvPr>
          <p:cNvPicPr>
            <a:picLocks noChangeAspect="1"/>
          </p:cNvPicPr>
          <p:nvPr/>
        </p:nvPicPr>
        <p:blipFill>
          <a:blip r:embed="rId3"/>
          <a:stretch>
            <a:fillRect/>
          </a:stretch>
        </p:blipFill>
        <p:spPr>
          <a:xfrm>
            <a:off x="2171966" y="4377611"/>
            <a:ext cx="7936979" cy="968112"/>
          </a:xfrm>
          <a:prstGeom prst="rect">
            <a:avLst/>
          </a:prstGeom>
        </p:spPr>
      </p:pic>
      <p:sp>
        <p:nvSpPr>
          <p:cNvPr id="12" name="TextBox 11">
            <a:extLst>
              <a:ext uri="{FF2B5EF4-FFF2-40B4-BE49-F238E27FC236}">
                <a16:creationId xmlns:a16="http://schemas.microsoft.com/office/drawing/2014/main" id="{36C49E42-8729-D57A-9AA2-4FA3974C1CAA}"/>
              </a:ext>
            </a:extLst>
          </p:cNvPr>
          <p:cNvSpPr txBox="1"/>
          <p:nvPr/>
        </p:nvSpPr>
        <p:spPr>
          <a:xfrm>
            <a:off x="659816" y="5617218"/>
            <a:ext cx="9851875" cy="923330"/>
          </a:xfrm>
          <a:prstGeom prst="rect">
            <a:avLst/>
          </a:prstGeom>
          <a:noFill/>
        </p:spPr>
        <p:txBody>
          <a:bodyPr wrap="square">
            <a:spAutoFit/>
          </a:bodyPr>
          <a:lstStyle/>
          <a:p>
            <a:pPr algn="l"/>
            <a:r>
              <a:rPr lang="en-US" sz="1800" b="0" i="0" u="none" strike="noStrike" baseline="0" dirty="0">
                <a:latin typeface="MinionPro-Regular"/>
              </a:rPr>
              <a:t>In our test, all coroutines that are launched should use </a:t>
            </a:r>
            <a:r>
              <a:rPr lang="en-US" b="1" i="0" u="none" strike="noStrike" baseline="0" dirty="0" err="1">
                <a:latin typeface="CourierStd"/>
              </a:rPr>
              <a:t>StandardTestDispatcher</a:t>
            </a:r>
            <a:r>
              <a:rPr lang="en-US" sz="1400" b="0" i="0" u="none" strike="noStrike" baseline="0" dirty="0">
                <a:latin typeface="CourierStd"/>
              </a:rPr>
              <a:t> </a:t>
            </a:r>
            <a:r>
              <a:rPr lang="en-US" sz="1800" b="0" i="0" u="none" strike="noStrike" baseline="0" dirty="0">
                <a:latin typeface="MinionPro-Regular"/>
              </a:rPr>
              <a:t>defined in our test class. So, how can we pass a test dispatcher to the coroutines launched in our </a:t>
            </a:r>
            <a:r>
              <a:rPr lang="en-US" b="1" i="0" u="none" strike="noStrike" baseline="0" dirty="0" err="1">
                <a:latin typeface="CourierStd"/>
              </a:rPr>
              <a:t>RestaurantsViewModel</a:t>
            </a:r>
            <a:r>
              <a:rPr lang="en-US" sz="1800" b="0" i="0" u="none" strike="noStrike" baseline="0" dirty="0">
                <a:latin typeface="MinionPro-Regular"/>
              </a:rPr>
              <a:t>?</a:t>
            </a:r>
            <a:endParaRPr lang="en-US" dirty="0"/>
          </a:p>
        </p:txBody>
      </p:sp>
    </p:spTree>
    <p:extLst>
      <p:ext uri="{BB962C8B-B14F-4D97-AF65-F5344CB8AC3E}">
        <p14:creationId xmlns:p14="http://schemas.microsoft.com/office/powerpoint/2010/main" val="1428212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sp>
        <p:nvSpPr>
          <p:cNvPr id="5" name="TextBox 4">
            <a:extLst>
              <a:ext uri="{FF2B5EF4-FFF2-40B4-BE49-F238E27FC236}">
                <a16:creationId xmlns:a16="http://schemas.microsoft.com/office/drawing/2014/main" id="{DA84EC29-46DF-2F4D-B5B8-6CD6F5FD2D10}"/>
              </a:ext>
            </a:extLst>
          </p:cNvPr>
          <p:cNvSpPr txBox="1"/>
          <p:nvPr/>
        </p:nvSpPr>
        <p:spPr>
          <a:xfrm>
            <a:off x="659816" y="1190900"/>
            <a:ext cx="10719384" cy="1200329"/>
          </a:xfrm>
          <a:prstGeom prst="rect">
            <a:avLst/>
          </a:prstGeom>
          <a:noFill/>
        </p:spPr>
        <p:txBody>
          <a:bodyPr wrap="square">
            <a:spAutoFit/>
          </a:bodyPr>
          <a:lstStyle/>
          <a:p>
            <a:pPr algn="l"/>
            <a:r>
              <a:rPr lang="en-US" sz="1800" b="0" i="0" u="none" strike="noStrike" baseline="0" dirty="0">
                <a:latin typeface="MinionPro-Regular"/>
              </a:rPr>
              <a:t>We can </a:t>
            </a:r>
            <a:r>
              <a:rPr lang="en-US" sz="1800" b="1" i="0" u="none" strike="noStrike" baseline="0" dirty="0">
                <a:latin typeface="MinionPro-Regular"/>
              </a:rPr>
              <a:t>inject</a:t>
            </a:r>
            <a:r>
              <a:rPr lang="en-US" sz="1800" b="0" i="0" u="none" strike="noStrike" baseline="0" dirty="0">
                <a:latin typeface="MinionPro-Regular"/>
              </a:rPr>
              <a:t> the dispatcher inside the </a:t>
            </a:r>
            <a:r>
              <a:rPr lang="en-US" b="1" i="0" u="none" strike="noStrike" baseline="0" dirty="0" err="1">
                <a:latin typeface="CourierStd"/>
              </a:rPr>
              <a:t>RestaurantsViewModel</a:t>
            </a:r>
            <a:r>
              <a:rPr lang="en-US" sz="1400" b="0" i="0" u="none" strike="noStrike" baseline="0" dirty="0">
                <a:latin typeface="CourierStd"/>
              </a:rPr>
              <a:t> </a:t>
            </a:r>
            <a:r>
              <a:rPr lang="en-US" sz="1800" b="0" i="0" u="none" strike="noStrike" baseline="0" dirty="0">
                <a:latin typeface="MinionPro-Regular"/>
              </a:rPr>
              <a:t>class by using its constructor and making it accept a </a:t>
            </a:r>
            <a:r>
              <a:rPr lang="en-US" b="1" i="0" u="none" strike="noStrike" baseline="0" dirty="0" err="1">
                <a:latin typeface="CourierStd"/>
              </a:rPr>
              <a:t>CoroutineDispatcher</a:t>
            </a:r>
            <a:r>
              <a:rPr lang="en-US" sz="1400" b="0" i="0" u="none" strike="noStrike" baseline="0" dirty="0">
                <a:latin typeface="CourierStd"/>
              </a:rPr>
              <a:t> </a:t>
            </a:r>
            <a:r>
              <a:rPr lang="en-US" sz="1800" b="0" i="0" u="none" strike="noStrike" baseline="0" dirty="0">
                <a:latin typeface="MinionPro-Regular"/>
              </a:rPr>
              <a:t>object, which will be passed to all the coroutines that are launched.</a:t>
            </a:r>
          </a:p>
          <a:p>
            <a:pPr algn="l"/>
            <a:r>
              <a:rPr lang="en-US" sz="1800" b="0" i="0" u="none" strike="noStrike" baseline="0" dirty="0">
                <a:latin typeface="MinionPro-Regular"/>
              </a:rPr>
              <a:t>This way, in our production code, </a:t>
            </a:r>
            <a:r>
              <a:rPr lang="en-US" b="1" i="0" u="none" strike="noStrike" baseline="0" dirty="0" err="1">
                <a:latin typeface="CourierStd"/>
              </a:rPr>
              <a:t>RestaurantsViewModel</a:t>
            </a:r>
            <a:r>
              <a:rPr lang="en-US" sz="1400" b="0" i="0" u="none" strike="noStrike" baseline="0" dirty="0">
                <a:latin typeface="CourierStd"/>
              </a:rPr>
              <a:t> </a:t>
            </a:r>
            <a:r>
              <a:rPr lang="en-US" sz="1800" b="0" i="0" u="none" strike="noStrike" baseline="0" dirty="0">
                <a:latin typeface="MinionPro-Regular"/>
              </a:rPr>
              <a:t>will receive and use the </a:t>
            </a:r>
            <a:r>
              <a:rPr lang="en-US" b="1" i="0" u="none" strike="noStrike" baseline="0" dirty="0" err="1">
                <a:latin typeface="CourierStd"/>
              </a:rPr>
              <a:t>Dispatchers.Main</a:t>
            </a:r>
            <a:r>
              <a:rPr lang="en-US" b="1" i="0" u="none" strike="noStrike" baseline="0" dirty="0">
                <a:latin typeface="CourierStd"/>
              </a:rPr>
              <a:t> </a:t>
            </a:r>
            <a:r>
              <a:rPr lang="en-US" sz="1800" b="0" i="0" u="none" strike="noStrike" baseline="0" dirty="0">
                <a:latin typeface="MinionPro-Regular"/>
              </a:rPr>
              <a:t>dispatcher, and inside our test code, it will receive and use the </a:t>
            </a:r>
            <a:r>
              <a:rPr lang="en-US" b="1" i="0" u="none" strike="noStrike" baseline="0" dirty="0" err="1">
                <a:latin typeface="CourierStd"/>
              </a:rPr>
              <a:t>StandardTestDispatcher</a:t>
            </a:r>
            <a:r>
              <a:rPr lang="en-US" sz="1400" b="0" i="0" u="none" strike="noStrike" baseline="0" dirty="0">
                <a:latin typeface="CourierStd"/>
              </a:rPr>
              <a:t> </a:t>
            </a:r>
            <a:r>
              <a:rPr lang="en-US" sz="1800" b="0" i="0" u="none" strike="noStrike" baseline="0" dirty="0">
                <a:latin typeface="MinionPro-Regular"/>
              </a:rPr>
              <a:t>dispatcher.</a:t>
            </a:r>
            <a:endParaRPr lang="en-US" dirty="0"/>
          </a:p>
        </p:txBody>
      </p:sp>
      <p:pic>
        <p:nvPicPr>
          <p:cNvPr id="7" name="Рисунок 6">
            <a:extLst>
              <a:ext uri="{FF2B5EF4-FFF2-40B4-BE49-F238E27FC236}">
                <a16:creationId xmlns:a16="http://schemas.microsoft.com/office/drawing/2014/main" id="{8756201A-42F8-C52F-5DC7-EA2BCFCC5455}"/>
              </a:ext>
            </a:extLst>
          </p:cNvPr>
          <p:cNvPicPr>
            <a:picLocks noChangeAspect="1"/>
          </p:cNvPicPr>
          <p:nvPr/>
        </p:nvPicPr>
        <p:blipFill>
          <a:blip r:embed="rId2"/>
          <a:stretch>
            <a:fillRect/>
          </a:stretch>
        </p:blipFill>
        <p:spPr>
          <a:xfrm>
            <a:off x="2639718" y="2387452"/>
            <a:ext cx="6912563" cy="4427524"/>
          </a:xfrm>
          <a:prstGeom prst="rect">
            <a:avLst/>
          </a:prstGeom>
        </p:spPr>
      </p:pic>
    </p:spTree>
    <p:extLst>
      <p:ext uri="{BB962C8B-B14F-4D97-AF65-F5344CB8AC3E}">
        <p14:creationId xmlns:p14="http://schemas.microsoft.com/office/powerpoint/2010/main" val="3272138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4" name="Рисунок 3">
            <a:extLst>
              <a:ext uri="{FF2B5EF4-FFF2-40B4-BE49-F238E27FC236}">
                <a16:creationId xmlns:a16="http://schemas.microsoft.com/office/drawing/2014/main" id="{7BD92A2A-4528-E099-DEA1-451DDE8B461C}"/>
              </a:ext>
            </a:extLst>
          </p:cNvPr>
          <p:cNvPicPr>
            <a:picLocks noChangeAspect="1"/>
          </p:cNvPicPr>
          <p:nvPr/>
        </p:nvPicPr>
        <p:blipFill>
          <a:blip r:embed="rId2"/>
          <a:stretch>
            <a:fillRect/>
          </a:stretch>
        </p:blipFill>
        <p:spPr>
          <a:xfrm>
            <a:off x="2568612" y="1105146"/>
            <a:ext cx="7054776" cy="3124063"/>
          </a:xfrm>
          <a:prstGeom prst="rect">
            <a:avLst/>
          </a:prstGeom>
        </p:spPr>
      </p:pic>
      <p:pic>
        <p:nvPicPr>
          <p:cNvPr id="8" name="Рисунок 7">
            <a:extLst>
              <a:ext uri="{FF2B5EF4-FFF2-40B4-BE49-F238E27FC236}">
                <a16:creationId xmlns:a16="http://schemas.microsoft.com/office/drawing/2014/main" id="{C411D8DC-4A1E-8534-7C70-C2F3A8062A03}"/>
              </a:ext>
            </a:extLst>
          </p:cNvPr>
          <p:cNvPicPr>
            <a:picLocks noChangeAspect="1"/>
          </p:cNvPicPr>
          <p:nvPr/>
        </p:nvPicPr>
        <p:blipFill>
          <a:blip r:embed="rId3"/>
          <a:stretch>
            <a:fillRect/>
          </a:stretch>
        </p:blipFill>
        <p:spPr>
          <a:xfrm>
            <a:off x="2577697" y="4426118"/>
            <a:ext cx="7045691" cy="1981815"/>
          </a:xfrm>
          <a:prstGeom prst="rect">
            <a:avLst/>
          </a:prstGeom>
        </p:spPr>
      </p:pic>
    </p:spTree>
    <p:extLst>
      <p:ext uri="{BB962C8B-B14F-4D97-AF65-F5344CB8AC3E}">
        <p14:creationId xmlns:p14="http://schemas.microsoft.com/office/powerpoint/2010/main" val="500760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5" name="Рисунок 4">
            <a:extLst>
              <a:ext uri="{FF2B5EF4-FFF2-40B4-BE49-F238E27FC236}">
                <a16:creationId xmlns:a16="http://schemas.microsoft.com/office/drawing/2014/main" id="{3A878049-8FE2-D809-4007-3F64F5FA2C17}"/>
              </a:ext>
            </a:extLst>
          </p:cNvPr>
          <p:cNvPicPr>
            <a:picLocks noChangeAspect="1"/>
          </p:cNvPicPr>
          <p:nvPr/>
        </p:nvPicPr>
        <p:blipFill>
          <a:blip r:embed="rId2"/>
          <a:stretch>
            <a:fillRect/>
          </a:stretch>
        </p:blipFill>
        <p:spPr>
          <a:xfrm>
            <a:off x="1705492" y="1353305"/>
            <a:ext cx="8781015" cy="1675585"/>
          </a:xfrm>
          <a:prstGeom prst="rect">
            <a:avLst/>
          </a:prstGeom>
        </p:spPr>
      </p:pic>
      <p:pic>
        <p:nvPicPr>
          <p:cNvPr id="7" name="Рисунок 6">
            <a:extLst>
              <a:ext uri="{FF2B5EF4-FFF2-40B4-BE49-F238E27FC236}">
                <a16:creationId xmlns:a16="http://schemas.microsoft.com/office/drawing/2014/main" id="{DFB1E672-A83A-D917-C065-4B23BB627381}"/>
              </a:ext>
            </a:extLst>
          </p:cNvPr>
          <p:cNvPicPr>
            <a:picLocks noChangeAspect="1"/>
          </p:cNvPicPr>
          <p:nvPr/>
        </p:nvPicPr>
        <p:blipFill>
          <a:blip r:embed="rId3"/>
          <a:stretch>
            <a:fillRect/>
          </a:stretch>
        </p:blipFill>
        <p:spPr>
          <a:xfrm>
            <a:off x="2636981" y="3312950"/>
            <a:ext cx="6918036" cy="3331897"/>
          </a:xfrm>
          <a:prstGeom prst="rect">
            <a:avLst/>
          </a:prstGeom>
        </p:spPr>
      </p:pic>
    </p:spTree>
    <p:extLst>
      <p:ext uri="{BB962C8B-B14F-4D97-AF65-F5344CB8AC3E}">
        <p14:creationId xmlns:p14="http://schemas.microsoft.com/office/powerpoint/2010/main" val="22712528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4" name="Рисунок 3">
            <a:extLst>
              <a:ext uri="{FF2B5EF4-FFF2-40B4-BE49-F238E27FC236}">
                <a16:creationId xmlns:a16="http://schemas.microsoft.com/office/drawing/2014/main" id="{9D860C02-3868-BC0F-DC37-B78ED193AFD0}"/>
              </a:ext>
            </a:extLst>
          </p:cNvPr>
          <p:cNvPicPr>
            <a:picLocks noChangeAspect="1"/>
          </p:cNvPicPr>
          <p:nvPr/>
        </p:nvPicPr>
        <p:blipFill>
          <a:blip r:embed="rId2"/>
          <a:stretch>
            <a:fillRect/>
          </a:stretch>
        </p:blipFill>
        <p:spPr>
          <a:xfrm>
            <a:off x="1585031" y="1209281"/>
            <a:ext cx="9021938" cy="1436891"/>
          </a:xfrm>
          <a:prstGeom prst="rect">
            <a:avLst/>
          </a:prstGeom>
        </p:spPr>
      </p:pic>
      <p:pic>
        <p:nvPicPr>
          <p:cNvPr id="8" name="Рисунок 7">
            <a:extLst>
              <a:ext uri="{FF2B5EF4-FFF2-40B4-BE49-F238E27FC236}">
                <a16:creationId xmlns:a16="http://schemas.microsoft.com/office/drawing/2014/main" id="{9CDBF8F9-E83B-7F75-0624-D51AFC033C20}"/>
              </a:ext>
            </a:extLst>
          </p:cNvPr>
          <p:cNvPicPr>
            <a:picLocks noChangeAspect="1"/>
          </p:cNvPicPr>
          <p:nvPr/>
        </p:nvPicPr>
        <p:blipFill>
          <a:blip r:embed="rId3"/>
          <a:stretch>
            <a:fillRect/>
          </a:stretch>
        </p:blipFill>
        <p:spPr>
          <a:xfrm>
            <a:off x="2008699" y="2894019"/>
            <a:ext cx="8174601" cy="3920957"/>
          </a:xfrm>
          <a:prstGeom prst="rect">
            <a:avLst/>
          </a:prstGeom>
        </p:spPr>
      </p:pic>
    </p:spTree>
    <p:extLst>
      <p:ext uri="{BB962C8B-B14F-4D97-AF65-F5344CB8AC3E}">
        <p14:creationId xmlns:p14="http://schemas.microsoft.com/office/powerpoint/2010/main" val="24404563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663F-6D9F-FF5D-9BF0-E8E92022F846}"/>
              </a:ext>
            </a:extLst>
          </p:cNvPr>
          <p:cNvSpPr>
            <a:spLocks noGrp="1"/>
          </p:cNvSpPr>
          <p:nvPr>
            <p:ph type="title"/>
          </p:nvPr>
        </p:nvSpPr>
        <p:spPr>
          <a:xfrm>
            <a:off x="659817" y="43024"/>
            <a:ext cx="11063260" cy="626111"/>
          </a:xfrm>
        </p:spPr>
        <p:txBody>
          <a:bodyPr>
            <a:noAutofit/>
          </a:bodyPr>
          <a:lstStyle/>
          <a:p>
            <a:r>
              <a:rPr lang="en-US" sz="3600" dirty="0"/>
              <a:t>Unit Testing of core logic</a:t>
            </a:r>
          </a:p>
        </p:txBody>
      </p:sp>
      <p:sp>
        <p:nvSpPr>
          <p:cNvPr id="11" name="TextBox 10">
            <a:extLst>
              <a:ext uri="{FF2B5EF4-FFF2-40B4-BE49-F238E27FC236}">
                <a16:creationId xmlns:a16="http://schemas.microsoft.com/office/drawing/2014/main" id="{A0D7329B-A3ED-4194-E787-634BE4FED38E}"/>
              </a:ext>
            </a:extLst>
          </p:cNvPr>
          <p:cNvSpPr txBox="1"/>
          <p:nvPr/>
        </p:nvSpPr>
        <p:spPr>
          <a:xfrm>
            <a:off x="659817" y="669135"/>
            <a:ext cx="5639384" cy="400110"/>
          </a:xfrm>
          <a:prstGeom prst="rect">
            <a:avLst/>
          </a:prstGeom>
          <a:noFill/>
        </p:spPr>
        <p:txBody>
          <a:bodyPr wrap="square">
            <a:spAutoFit/>
          </a:bodyPr>
          <a:lstStyle/>
          <a:p>
            <a:r>
              <a:rPr lang="en-US" sz="2000" b="1" i="0" u="none" strike="noStrike" baseline="0" dirty="0">
                <a:latin typeface="OpenSans-Semibold"/>
              </a:rPr>
              <a:t>Testing the functionality of a </a:t>
            </a:r>
            <a:r>
              <a:rPr lang="en-US" sz="2000" b="1" i="0" u="none" strike="noStrike" baseline="0" dirty="0" err="1">
                <a:latin typeface="OpenSans-Semibold"/>
              </a:rPr>
              <a:t>ViewModel</a:t>
            </a:r>
            <a:r>
              <a:rPr lang="en-US" sz="2000" b="1" i="0" u="none" strike="noStrike" baseline="0" dirty="0">
                <a:latin typeface="OpenSans-Semibold"/>
              </a:rPr>
              <a:t> class</a:t>
            </a:r>
            <a:endParaRPr lang="en-US" sz="2000" b="1" dirty="0"/>
          </a:p>
        </p:txBody>
      </p:sp>
      <p:pic>
        <p:nvPicPr>
          <p:cNvPr id="5" name="Рисунок 4">
            <a:extLst>
              <a:ext uri="{FF2B5EF4-FFF2-40B4-BE49-F238E27FC236}">
                <a16:creationId xmlns:a16="http://schemas.microsoft.com/office/drawing/2014/main" id="{DFCEE37E-8AFA-7E12-1CEA-0D6862821774}"/>
              </a:ext>
            </a:extLst>
          </p:cNvPr>
          <p:cNvPicPr>
            <a:picLocks noChangeAspect="1"/>
          </p:cNvPicPr>
          <p:nvPr/>
        </p:nvPicPr>
        <p:blipFill>
          <a:blip r:embed="rId2"/>
          <a:stretch>
            <a:fillRect/>
          </a:stretch>
        </p:blipFill>
        <p:spPr>
          <a:xfrm>
            <a:off x="2339997" y="1069245"/>
            <a:ext cx="7512005" cy="3603437"/>
          </a:xfrm>
          <a:prstGeom prst="rect">
            <a:avLst/>
          </a:prstGeom>
        </p:spPr>
      </p:pic>
      <p:pic>
        <p:nvPicPr>
          <p:cNvPr id="7" name="Рисунок 6">
            <a:extLst>
              <a:ext uri="{FF2B5EF4-FFF2-40B4-BE49-F238E27FC236}">
                <a16:creationId xmlns:a16="http://schemas.microsoft.com/office/drawing/2014/main" id="{EAC90D42-5A89-6083-C66E-E4DE54C79AEE}"/>
              </a:ext>
            </a:extLst>
          </p:cNvPr>
          <p:cNvPicPr>
            <a:picLocks noChangeAspect="1"/>
          </p:cNvPicPr>
          <p:nvPr/>
        </p:nvPicPr>
        <p:blipFill>
          <a:blip r:embed="rId3"/>
          <a:stretch>
            <a:fillRect/>
          </a:stretch>
        </p:blipFill>
        <p:spPr>
          <a:xfrm>
            <a:off x="2241633" y="4869090"/>
            <a:ext cx="7708731" cy="1839329"/>
          </a:xfrm>
          <a:prstGeom prst="rect">
            <a:avLst/>
          </a:prstGeom>
        </p:spPr>
      </p:pic>
    </p:spTree>
    <p:extLst>
      <p:ext uri="{BB962C8B-B14F-4D97-AF65-F5344CB8AC3E}">
        <p14:creationId xmlns:p14="http://schemas.microsoft.com/office/powerpoint/2010/main" val="3196615334"/>
      </p:ext>
    </p:extLst>
  </p:cSld>
  <p:clrMapOvr>
    <a:masterClrMapping/>
  </p:clrMapOvr>
</p:sld>
</file>

<file path=ppt/theme/theme1.xml><?xml version="1.0" encoding="utf-8"?>
<a:theme xmlns:a="http://schemas.openxmlformats.org/drawingml/2006/main" name="CosineVTI">
  <a:themeElements>
    <a:clrScheme name="AnalogousFromRegularSeedLeftStep">
      <a:dk1>
        <a:srgbClr val="000000"/>
      </a:dk1>
      <a:lt1>
        <a:srgbClr val="FFFFFF"/>
      </a:lt1>
      <a:dk2>
        <a:srgbClr val="203923"/>
      </a:dk2>
      <a:lt2>
        <a:srgbClr val="E8E4E2"/>
      </a:lt2>
      <a:accent1>
        <a:srgbClr val="4499CC"/>
      </a:accent1>
      <a:accent2>
        <a:srgbClr val="30B2AC"/>
      </a:accent2>
      <a:accent3>
        <a:srgbClr val="3CB77E"/>
      </a:accent3>
      <a:accent4>
        <a:srgbClr val="32BA43"/>
      </a:accent4>
      <a:accent5>
        <a:srgbClr val="60B63C"/>
      </a:accent5>
      <a:accent6>
        <a:srgbClr val="8AAF2F"/>
      </a:accent6>
      <a:hlink>
        <a:srgbClr val="BE6C3C"/>
      </a:hlink>
      <a:folHlink>
        <a:srgbClr val="7F7F7F"/>
      </a:folHlink>
    </a:clrScheme>
    <a:fontScheme name="Custom 50">
      <a:majorFont>
        <a:latin typeface="Grandview"/>
        <a:ea typeface=""/>
        <a:cs typeface=""/>
      </a:majorFont>
      <a:minorFont>
        <a:latin typeface="Grandvie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sineVTI" id="{4F4449D5-5E9D-4D83-9E2A-939F9CF20276}" vid="{03166EA1-370F-4321-A61E-8851365B4312}"/>
    </a:ext>
  </a:extLst>
</a:theme>
</file>

<file path=docProps/app.xml><?xml version="1.0" encoding="utf-8"?>
<Properties xmlns="http://schemas.openxmlformats.org/officeDocument/2006/extended-properties" xmlns:vt="http://schemas.openxmlformats.org/officeDocument/2006/docPropsVTypes">
  <Template>TM03090430[[fn=Banded]]</Template>
  <TotalTime>5753</TotalTime>
  <Words>1675</Words>
  <Application>Microsoft Office PowerPoint</Application>
  <PresentationFormat>Widescreen</PresentationFormat>
  <Paragraphs>123</Paragraphs>
  <Slides>31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Arial Unicode MS</vt:lpstr>
      <vt:lpstr>CourierStd</vt:lpstr>
      <vt:lpstr>Grandview</vt:lpstr>
      <vt:lpstr>MinionPro-Bold</vt:lpstr>
      <vt:lpstr>MinionPro-It</vt:lpstr>
      <vt:lpstr>MinionPro-Regular</vt:lpstr>
      <vt:lpstr>OpenSans-Semibold</vt:lpstr>
      <vt:lpstr>Wingdings</vt:lpstr>
      <vt:lpstr>Wingdings2</vt:lpstr>
      <vt:lpstr>CosineVTI</vt:lpstr>
      <vt:lpstr>UI and Unit Tests</vt:lpstr>
      <vt:lpstr>UI and Unit Tests</vt:lpstr>
      <vt:lpstr>UI and Unit Tests</vt:lpstr>
      <vt:lpstr>Testing Compose UI</vt:lpstr>
      <vt:lpstr>Testing Compose UI</vt:lpstr>
      <vt:lpstr>Testing Compose UI</vt:lpstr>
      <vt:lpstr>Testing Compose UI</vt:lpstr>
      <vt:lpstr>Testing Compose UI</vt:lpstr>
      <vt:lpstr>Testing Compose UI</vt:lpstr>
      <vt:lpstr>Testing Compose UI</vt:lpstr>
      <vt:lpstr>Testing Compose UI</vt:lpstr>
      <vt:lpstr>Testing Compose UI</vt:lpstr>
      <vt:lpstr>Testing Compose UI</vt:lpstr>
      <vt:lpstr>Testing Compose UI</vt:lpstr>
      <vt:lpstr>Testing Compose UI</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lpstr>Unit Testing of core logic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Програмування для мобільних платформ</dc:title>
  <dc:creator>Roman Kutelmakh</dc:creator>
  <cp:lastModifiedBy>Roman Kutelmakh</cp:lastModifiedBy>
  <cp:revision>1174</cp:revision>
  <dcterms:created xsi:type="dcterms:W3CDTF">2024-01-29T09:49:01Z</dcterms:created>
  <dcterms:modified xsi:type="dcterms:W3CDTF">2025-02-19T10:07:39Z</dcterms:modified>
</cp:coreProperties>
</file>